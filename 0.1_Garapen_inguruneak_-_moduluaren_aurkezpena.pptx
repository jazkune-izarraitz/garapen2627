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4"/>
    <p:sldId id="257" r:id="rId13"/>
    <p:sldId id="258" r:id="rId12"/>
    <p:sldId id="259" r:id="rId11"/>
    <p:sldId id="260" r:id="rId10"/>
    <p:sldId id="261" r:id="rId9"/>
    <p:sldId id="262" r:id="rId8"/>
    <p:sldId id="263" r:id="rId7"/>
    <p:sldId id="264" r:id="rId6"/>
    <p:sldId id="265" r:id="rId23"/>
    <p:sldId id="266" r:id="rId2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font" Target="fonts/Raleway-regular.fntdata"/><Relationship Id="rId16" Type="http://schemas.openxmlformats.org/officeDocument/2006/relationships/font" Target="fonts/Raleway-bold.fntdata"/><Relationship Id="rId17" Type="http://schemas.openxmlformats.org/officeDocument/2006/relationships/font" Target="fonts/Raleway-italic.fntdata"/><Relationship Id="rId18" Type="http://schemas.openxmlformats.org/officeDocument/2006/relationships/font" Target="fonts/Raleway-boldItalic.fntdata"/><Relationship Id="rId19" Type="http://schemas.openxmlformats.org/officeDocument/2006/relationships/font" Target="fonts/Lato-regular.fntdata"/><Relationship Id="rId20" Type="http://schemas.openxmlformats.org/officeDocument/2006/relationships/font" Target="fonts/Lato-bold.fntdata"/><Relationship Id="rId21" Type="http://schemas.openxmlformats.org/officeDocument/2006/relationships/font" Target="fonts/Lato-italic.fntdata"/><Relationship Id="rId22" Type="http://schemas.openxmlformats.org/officeDocument/2006/relationships/font" Target="fonts/Lato-boldItalic.fntdata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u"/>
              <a:t>Garapen inguruneak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Moduluan landuko diren lerro nagusiak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IDE eta software garapenaren oinarriak.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Fluxu-diagramak eta programazioaren hastapenak.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Bertsio-kontrola GIT eta GitHub-ekin.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POO eta UML modelizazioa.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Dokumentazio teknikoa eta kodearen optimizazioa.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Moduluaren egitura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450" y="2100000"/>
            <a:ext cx="3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IDE</a:t>
            </a:r>
          </a:p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Fluxu-diagramak</a:t>
            </a:r>
          </a:p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GIT / GitHub</a:t>
            </a:r>
          </a:p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UML + POO</a:t>
            </a:r>
          </a:p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Dokumentazioa</a:t>
            </a:r>
          </a:p>
          <a:p>
            <a:pPr algn="l"/>
            <a:r>
              <a:rPr lang="eu" sz="2000">
                <a:solidFill>
                  <a:srgbClr val="1A1A1A"/>
                </a:solidFill>
                <a:latin typeface="Lato"/>
              </a:rPr>
              <a:t>•  Optimizazioa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000000" y="3000000"/>
            <a:ext cx="1200000" cy="280000"/>
          </a:xfrm>
          <a:prstGeom prst="rightArrow">
            <a:avLst/>
          </a:prstGeom>
          <a:solidFill>
            <a:srgbClr val="1A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0" y="2300000"/>
            <a:ext cx="3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u" sz="2200">
                <a:solidFill>
                  <a:srgbClr val="1A1A1A"/>
                </a:solidFill>
                <a:latin typeface="Lato"/>
              </a:rPr>
              <a:t>Teoria</a:t>
            </a:r>
          </a:p>
          <a:p>
            <a:pPr algn="ctr"/>
            <a:r>
              <a:rPr lang="eu" sz="2200">
                <a:solidFill>
                  <a:srgbClr val="1A1A1A"/>
                </a:solidFill>
                <a:latin typeface="Lato"/>
              </a:rPr>
              <a:t>+</a:t>
            </a:r>
          </a:p>
          <a:p>
            <a:pPr algn="ctr"/>
            <a:r>
              <a:rPr lang="eu" sz="2200">
                <a:solidFill>
                  <a:srgbClr val="1A1A1A"/>
                </a:solidFill>
                <a:latin typeface="Lato"/>
              </a:rPr>
              <a:t>Ariketak</a:t>
            </a:r>
          </a:p>
          <a:p>
            <a:pPr algn="ctr"/>
            <a:r>
              <a:rPr lang="eu" sz="2200">
                <a:solidFill>
                  <a:srgbClr val="1A1A1A"/>
                </a:solidFill>
                <a:latin typeface="Lato"/>
              </a:rPr>
              <a:t>+</a:t>
            </a:r>
          </a:p>
          <a:p>
            <a:pPr algn="ctr"/>
            <a:r>
              <a:rPr lang="eu" sz="2200">
                <a:solidFill>
                  <a:srgbClr val="1A1A1A"/>
                </a:solidFill>
                <a:latin typeface="Lato"/>
              </a:rPr>
              <a:t>Erronkak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Software garapenaren teoria.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IDE instalazioa eta konfigurazioa.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Lengoaia ezberdinekin lan egitea.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Fluxu-diagramak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Fluxu-diagramen teoria eta interpretazioa.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PSEINT bidezko programazioa.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Fluxu-diagramaketik programaziora.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C# hastapenak: interpretazioa, berridazketa eta funtzioak.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1. Erronka teknikoa (%5).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GIT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Bertsio-kontrolaren aurre-ezagutzak eta teoria.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Hasierako ariketak GIT ikasteko.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GIT eta GitHub-en erabilera.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Lankidetzarako aukerak (TicketBai-git).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UML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POO + UML teoria.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UML ariketak (EUS + ING).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Klase-diagramak eta erronka praktikoak.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2. Erronka teknikoa (%5).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Dokumentazioa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Dokumentazio-gidaren teoria.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Dokumentazio teknikoaren praktika.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GhostDoc eta docfx weba - jarduera.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Optimizazioa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 sz="1800"/>
              <a:t>Optimizazio-gidaren teoria.</a:t>
            </a:r>
          </a:p>
          <a:p>
            <a:pPr algn="l" marL="457200" indent="-377190">
              <a:buSzPct val="100000"/>
              <a:buChar char="-"/>
            </a:pPr>
            <a:r>
              <a:rPr lang="eu" b="0" sz="1800"/>
              <a:t>GitHub Issues jarduera.</a:t>
            </a:r>
          </a:p>
          <a:p>
            <a:pPr algn="l" marL="457200" indent="-377190">
              <a:buSzPct val="100000"/>
              <a:buChar char="-"/>
            </a:pPr>
            <a:r>
              <a:rPr lang="eu" b="0" sz="1800"/>
              <a:t>Kodea araztea eta hobetzea.</a:t>
            </a:r>
          </a:p>
          <a:p>
            <a:pPr algn="l" marL="457200" indent="-377190">
              <a:buSzPct val="100000"/>
              <a:buChar char="-"/>
            </a:pPr>
            <a:r>
              <a:rPr lang="eu" b="0" sz="1800"/>
              <a:t>3. KP: dokumentazioa %40, issue %20, arazketa %40.</a:t>
            </a:r>
          </a:p>
          <a:p>
            <a:pPr algn="l" marL="457200" indent="-377190">
              <a:buSzPct val="100000"/>
              <a:buChar char="-"/>
            </a:pPr>
            <a:r>
              <a:rPr lang="eu" b="0" sz="1800"/>
              <a:t>3. Erronka teknikoa.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Baliabideak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marL="457200" indent="-377190">
              <a:buSzPct val="100000"/>
              <a:buChar char="-"/>
            </a:pPr>
            <a:r>
              <a:rPr lang="eu" b="0"/>
              <a:t>Azalpen teorikoak (EUS / ING).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Ariketak eta jarduera praktikoak.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Galdetegiak eta erronka teknikoak.</a:t>
            </a:r>
          </a:p>
          <a:p>
            <a:pPr algn="l" marL="457200" indent="-377190">
              <a:buSzPct val="100000"/>
              <a:buChar char="-"/>
            </a:pPr>
            <a:r>
              <a:rPr lang="eu" b="0"/>
              <a:t>Hiztegia / Glossary eta material gehigarria.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u"/>
              <a:t>Ebaluazio - kalifikazioa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000000"/>
            <a:ext cx="5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u" sz="2000">
                <a:solidFill>
                  <a:srgbClr val="1A1A1A"/>
                </a:solidFill>
                <a:latin typeface="Lato"/>
              </a:rPr>
              <a:t>1. Erronka teknikoa  %5</a:t>
            </a:r>
          </a:p>
          <a:p>
            <a:pPr algn="ctr"/>
            <a:r>
              <a:rPr lang="eu" sz="2000">
                <a:solidFill>
                  <a:srgbClr val="1A1A1A"/>
                </a:solidFill>
                <a:latin typeface="Lato"/>
              </a:rPr>
              <a:t>2. Erronka teknikoa  %5</a:t>
            </a:r>
          </a:p>
          <a:p>
            <a:pPr algn="ctr"/>
            <a:r>
              <a:rPr lang="eu" sz="2000">
                <a:solidFill>
                  <a:srgbClr val="1A1A1A"/>
                </a:solidFill>
                <a:latin typeface="Lato"/>
              </a:rPr>
              <a:t>3. KP: dokumentazioa + issue + arazketa</a:t>
            </a:r>
          </a:p>
          <a:p>
            <a:pPr algn="ctr"/>
            <a:r>
              <a:rPr lang="eu" sz="2000">
                <a:solidFill>
                  <a:srgbClr val="1A1A1A"/>
                </a:solidFill>
                <a:latin typeface="Lato"/>
              </a:rPr>
              <a:t/>
            </a:r>
          </a:p>
          <a:p>
            <a:pPr algn="ctr"/>
            <a:r>
              <a:rPr lang="eu" sz="2000">
                <a:solidFill>
                  <a:srgbClr val="1A1A1A"/>
                </a:solidFill>
                <a:latin typeface="Lato"/>
              </a:rPr>
              <a:t>Moodle-ko ebaluazio-sistema jarraitu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