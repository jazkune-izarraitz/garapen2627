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4"/>
    <p:sldId id="265" r:id="rId15"/>
    <p:sldId id="266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1666" y="2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dirty="0" sz="2800" b="1">
                <a:solidFill>
                  <a:srgbClr val="000000"/>
                </a:solidFill>
              </a:rPr>
              <a:t>recon-ng — OSINT laburpena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242843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dirty="0" sz="1600" b="1">
                <a:solidFill>
                  <a:srgbClr val="000000"/>
                </a:solidFill>
              </a:rPr>
              <a:t>Pausuak:</a:t>
            </a:r>
          </a:p>
          <a:p>
            <a:pPr/>
            <a:r>
              <a:rPr dirty="0" sz="1400">
                <a:solidFill>
                  <a:srgbClr val="000000"/>
                </a:solidFill>
              </a:rPr>
              <a:t>• OSINT tresnak eta API-ak ulertu</a:t>
            </a:r>
          </a:p>
          <a:p>
            <a:pPr/>
            <a:r>
              <a:rPr dirty="0" sz="1400">
                <a:solidFill>
                  <a:srgbClr val="000000"/>
                </a:solidFill>
              </a:rPr>
              <a:t>• recon-ng instalatu / abiarazi</a:t>
            </a:r>
          </a:p>
          <a:p>
            <a:pPr/>
            <a:r>
              <a:rPr dirty="0" sz="1400">
                <a:solidFill>
                  <a:srgbClr val="000000"/>
                </a:solidFill>
              </a:rPr>
              <a:t>• Workspace + modulua kargatu</a:t>
            </a:r>
          </a:p>
          <a:p>
            <a:pPr/>
            <a:r>
              <a:rPr dirty="0" sz="1400">
                <a:solidFill>
                  <a:srgbClr val="000000"/>
                </a:solidFill>
              </a:rPr>
              <a:t>• Domeinu baten gainean exekutatu</a:t>
            </a:r>
          </a:p>
          <a:p>
            <a:pPr/>
            <a:r>
              <a:rPr dirty="0" sz="1400">
                <a:solidFill>
                  <a:srgbClr val="000000"/>
                </a:solidFill>
              </a:rPr>
              <a:t>• Emaitzak esportatu eta dokumentatu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73346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dirty="0" sz="1400">
                <a:solidFill>
                  <a:srgbClr val="000000"/>
                </a:solidFill>
              </a:rPr>
              <a:t>Hacking etikoa (HE-2): informazio publikoa biltzeko komando-lerroko framework-a. Aurkezpen honek praktikaren pausuak laburbiltzen ditu.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01752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dirty="0" sz="1200">
                <a:latin typeface="Courier New"/>
                <a:cs typeface="Courier New"/>
                <a:solidFill>
                  <a:srgbClr val="000000"/>
                </a:solidFill>
              </a:rPr>
              <a:t># Helburua: domeinu/web/korreo OSINT</a:t>
            </a:r>
          </a:p>
          <a:p>
            <a:pPr/>
            <a:r>
              <a:rPr dirty="0" sz="1200">
                <a:latin typeface="Courier New"/>
                <a:cs typeface="Courier New"/>
                <a:solidFill>
                  <a:srgbClr val="000000"/>
                </a:solidFill>
              </a:rPr>
              <a:t># Tresna: recon-ng (Kali / Linux)</a:t>
            </a:r>
          </a:p>
          <a:p>
            <a:pPr/>
            <a:r>
              <a:rPr dirty="0" sz="1200">
                <a:latin typeface="Courier New"/>
                <a:cs typeface="Courier New"/>
                <a:solidFill>
                  <a:srgbClr val="000000"/>
                </a:solidFill>
              </a:rPr>
              <a:t># Entrega: proba + pantaila-argazkiak + esportazioak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dirty="0" sz="2800" b="1">
                <a:solidFill>
                  <a:srgbClr val="000000"/>
                </a:solidFill>
              </a:rPr>
              <a:t>OSINT CLI tresnak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6856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dirty="0" sz="1600" b="1">
                <a:solidFill>
                  <a:srgbClr val="000000"/>
                </a:solidFill>
              </a:rPr>
              <a:t>Pausuak:</a:t>
            </a:r>
          </a:p>
          <a:p>
            <a:pPr/>
            <a:r>
              <a:rPr dirty="0" sz="1400">
                <a:solidFill>
                  <a:srgbClr val="000000"/>
                </a:solidFill>
              </a:rPr>
              <a:t>• Domeinuak eta azpidomeinuak bilatu</a:t>
            </a:r>
          </a:p>
          <a:p>
            <a:pPr/>
            <a:r>
              <a:rPr dirty="0" sz="1400">
                <a:solidFill>
                  <a:srgbClr val="000000"/>
                </a:solidFill>
              </a:rPr>
              <a:t>• Webguneen arrastoak bildu</a:t>
            </a:r>
          </a:p>
          <a:p>
            <a:pPr/>
            <a:r>
              <a:rPr dirty="0" sz="1400">
                <a:solidFill>
                  <a:srgbClr val="000000"/>
                </a:solidFill>
              </a:rPr>
              <a:t>• Korreo helbideak aurkitu</a:t>
            </a:r>
          </a:p>
          <a:p>
            <a:pPr/>
            <a:r>
              <a:rPr dirty="0" sz="1400">
                <a:solidFill>
                  <a:srgbClr val="000000"/>
                </a:solidFill>
              </a:rPr>
              <a:t>• Beste zerbitzuen API-ak toki bakarrean bateratu</a:t>
            </a:r>
          </a:p>
          <a:p>
            <a:pPr/>
            <a:r>
              <a:rPr dirty="0" sz="1400">
                <a:solidFill>
                  <a:srgbClr val="000000"/>
                </a:solidFill>
              </a:rPr>
              <a:t>• Eskuzko bilaketak erraztu / azkartu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0539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dirty="0" sz="1400">
                <a:solidFill>
                  <a:srgbClr val="000000"/>
                </a:solidFill>
              </a:rPr>
              <a:t>Domeinuei, webgunei eta korreoei buruzko datu publikoak biltzeko tresnak. Lan errepikakorrak API bidez automatiza daitezke.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01752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dirty="0" sz="1200">
                <a:latin typeface="Courier New"/>
                <a:cs typeface="Courier New"/>
                <a:solidFill>
                  <a:srgbClr val="000000"/>
                </a:solidFill>
              </a:rPr>
              <a:t># Adibideak (kontzeptua):</a:t>
            </a:r>
          </a:p>
          <a:p>
            <a:pPr/>
            <a:r>
              <a:rPr dirty="0" sz="1200">
                <a:latin typeface="Courier New"/>
                <a:cs typeface="Courier New"/>
                <a:solidFill>
                  <a:srgbClr val="000000"/>
                </a:solidFill>
              </a:rPr>
              <a:t xml:space="preserve">#   whois / dig / host</a:t>
            </a:r>
          </a:p>
          <a:p>
            <a:pPr/>
            <a:r>
              <a:rPr dirty="0" sz="1200">
                <a:latin typeface="Courier New"/>
                <a:cs typeface="Courier New"/>
                <a:solidFill>
                  <a:srgbClr val="000000"/>
                </a:solidFill>
              </a:rPr>
              <a:t xml:space="preserve">#   recon-ng moduluen bidez API deiak</a:t>
            </a:r>
          </a:p>
          <a:p>
            <a:pPr/>
            <a:r>
              <a:rPr dirty="0" sz="1200">
                <a:latin typeface="Courier New"/>
                <a:cs typeface="Courier New"/>
                <a:solidFill>
                  <a:srgbClr val="000000"/>
                </a:solidFill>
              </a:rPr>
              <a:t xml:space="preserve">#   Hunter.io, Shodan, HackerTarget...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dirty="0" sz="2800" b="1">
                <a:solidFill>
                  <a:srgbClr val="000000"/>
                </a:solidFill>
              </a:rPr>
              <a:t>API key-ak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4480" y="1219972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dirty="0" sz="1600" b="1">
                <a:solidFill>
                  <a:srgbClr val="000000"/>
                </a:solidFill>
              </a:rPr>
              <a:t>Pausuak:</a:t>
            </a:r>
          </a:p>
          <a:p>
            <a:pPr/>
            <a:r>
              <a:rPr dirty="0" sz="1400">
                <a:solidFill>
                  <a:srgbClr val="000000"/>
                </a:solidFill>
              </a:rPr>
              <a:t>• Zerbitzuan erregistratu</a:t>
            </a:r>
          </a:p>
          <a:p>
            <a:pPr/>
            <a:r>
              <a:rPr dirty="0" sz="1400">
                <a:solidFill>
                  <a:srgbClr val="000000"/>
                </a:solidFill>
              </a:rPr>
              <a:t>• Doako vs ordainpeko plana egiaztatu</a:t>
            </a:r>
          </a:p>
          <a:p>
            <a:pPr/>
            <a:r>
              <a:rPr dirty="0" sz="1400">
                <a:solidFill>
                  <a:srgbClr val="000000"/>
                </a:solidFill>
              </a:rPr>
              <a:t>• API key jaso (ez partekatu)</a:t>
            </a:r>
          </a:p>
          <a:p>
            <a:pPr/>
            <a:r>
              <a:rPr dirty="0" sz="1400">
                <a:solidFill>
                  <a:srgbClr val="000000"/>
                </a:solidFill>
              </a:rPr>
              <a:t>• recon-ng-n keys add bidez gorde</a:t>
            </a:r>
          </a:p>
          <a:p>
            <a:pPr/>
            <a:r>
              <a:rPr dirty="0" sz="1400">
                <a:solidFill>
                  <a:srgbClr val="000000"/>
                </a:solidFill>
              </a:rPr>
              <a:t>• Key gabe: emaitza hutsak / mugatuak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54212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dirty="0" sz="1400">
                <a:solidFill>
                  <a:srgbClr val="000000"/>
                </a:solidFill>
              </a:rPr>
              <a:t>Emaitza onak lortzeko, askotan API key behar da. Doako planak egon daitezke; batzuetan ordainpekoak dira. Key gabe modulu batzuk mugatuta geratzen dira.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457688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dirty="0" sz="1200">
                <a:latin typeface="Courier New"/>
                <a:cs typeface="Courier New"/>
                <a:solidFill>
                  <a:srgbClr val="000000"/>
                </a:solidFill>
              </a:rPr>
              <a:t># Adibideak:</a:t>
            </a:r>
          </a:p>
          <a:p>
            <a:pPr/>
            <a:r>
              <a:rPr dirty="0" sz="1200">
                <a:latin typeface="Courier New"/>
                <a:cs typeface="Courier New"/>
                <a:solidFill>
                  <a:srgbClr val="000000"/>
                </a:solidFill>
              </a:rPr>
              <a:t xml:space="preserve">#   Hunter.io  → korreo bilaketa</a:t>
            </a:r>
          </a:p>
          <a:p>
            <a:pPr/>
            <a:r>
              <a:rPr dirty="0" sz="1200">
                <a:latin typeface="Courier New"/>
                <a:cs typeface="Courier New"/>
                <a:solidFill>
                  <a:srgbClr val="000000"/>
                </a:solidFill>
              </a:rPr>
              <a:t xml:space="preserve">#   Shodan     → host / portuak</a:t>
            </a:r>
          </a:p>
          <a:p>
            <a:pPr/>
            <a:r>
              <a:rPr dirty="0" sz="1200">
                <a:latin typeface="Courier New"/>
                <a:cs typeface="Courier New"/>
                <a:solidFill>
                  <a:srgbClr val="000000"/>
                </a:solidFill>
              </a:rPr>
              <a:t xml:space="preserve">#   HackerTarget → azpidomeinuak (maiz key gabe)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dirty="0" sz="2800" b="1">
                <a:solidFill>
                  <a:srgbClr val="000000"/>
                </a:solidFill>
              </a:rPr>
              <a:t>recon-ng instalazioa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4000" y="1381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dirty="0" sz="1600" b="1">
                <a:solidFill>
                  <a:srgbClr val="000000"/>
                </a:solidFill>
              </a:rPr>
              <a:t>Pausuak:</a:t>
            </a:r>
          </a:p>
          <a:p>
            <a:pPr/>
            <a:r>
              <a:rPr dirty="0" sz="1400">
                <a:solidFill>
                  <a:srgbClr val="000000"/>
                </a:solidFill>
              </a:rPr>
              <a:t>• Kali: paketea egiaztatu / instalatu</a:t>
            </a:r>
          </a:p>
          <a:p>
            <a:pPr/>
            <a:r>
              <a:rPr dirty="0" sz="1400">
                <a:solidFill>
                  <a:srgbClr val="000000"/>
                </a:solidFill>
              </a:rPr>
              <a:t>• Linux: dokumentazioa jarraitu</a:t>
            </a:r>
          </a:p>
          <a:p>
            <a:pPr/>
            <a:r>
              <a:rPr dirty="0" sz="1400">
                <a:solidFill>
                  <a:srgbClr val="000000"/>
                </a:solidFill>
              </a:rPr>
              <a:t>• recon-ng abiarazi terminalean</a:t>
            </a:r>
          </a:p>
          <a:p>
            <a:pPr/>
            <a:r>
              <a:rPr dirty="0" sz="1400">
                <a:solidFill>
                  <a:srgbClr val="000000"/>
                </a:solidFill>
              </a:rPr>
              <a:t>• Marketplace / moduluak kudeatu</a:t>
            </a:r>
          </a:p>
          <a:p>
            <a:pPr/>
            <a:r>
              <a:rPr dirty="0" sz="1400">
                <a:solidFill>
                  <a:srgbClr val="000000"/>
                </a:solidFill>
              </a:rPr>
              <a:t>• Workspace bat sortu helburu bakoitzeko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5120" y="782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dirty="0" sz="1400">
                <a:solidFill>
                  <a:srgbClr val="000000"/>
                </a:solidFill>
              </a:rPr>
              <a:t>Kali Linux-ek recon-ng ekarri ohi du. Beste Linux banaketan dokumentazio ofizialaren urratsak jarraitu.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01752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dirty="0" sz="1200">
                <a:latin typeface="Courier New"/>
                <a:cs typeface="Courier New"/>
                <a:solidFill>
                  <a:srgbClr val="000000"/>
                </a:solidFill>
              </a:rPr>
              <a:t>sudo apt update</a:t>
            </a:r>
          </a:p>
          <a:p>
            <a:pPr/>
            <a:r>
              <a:rPr dirty="0" sz="1200">
                <a:latin typeface="Courier New"/>
                <a:cs typeface="Courier New"/>
                <a:solidFill>
                  <a:srgbClr val="000000"/>
                </a:solidFill>
              </a:rPr>
              <a:t>sudo apt install recon-ng</a:t>
            </a:r>
          </a:p>
          <a:p>
            <a:pPr/>
            <a:r>
              <a:rPr dirty="0" sz="1200">
                <a:latin typeface="Courier New"/>
                <a:cs typeface="Courier New"/>
                <a:solidFill>
                  <a:srgbClr val="000000"/>
                </a:solidFill>
              </a:rPr>
              <a:t>recon-ng</a:t>
            </a:r>
          </a:p>
          <a:p>
            <a:pPr/>
            <a:r>
              <a:rPr dirty="0" sz="1200">
                <a:latin typeface="Courier New"/>
                <a:cs typeface="Courier New"/>
                <a:solidFill>
                  <a:srgbClr val="000000"/>
                </a:solidFill>
              </a:rPr>
              <a:t># Bertsioa egiaztatu:</a:t>
            </a:r>
          </a:p>
          <a:p>
            <a:pPr/>
            <a:r>
              <a:rPr dirty="0" sz="1200">
                <a:latin typeface="Courier New"/>
                <a:cs typeface="Courier New"/>
                <a:solidFill>
                  <a:srgbClr val="000000"/>
                </a:solidFill>
              </a:rPr>
              <a:t>recon-ng --version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dirty="0" sz="2800" b="1">
                <a:solidFill>
                  <a:srgbClr val="000000"/>
                </a:solidFill>
              </a:rPr>
              <a:t>Nabigazioa: Workspaces →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5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dirty="0" sz="1600" b="1">
                <a:solidFill>
                  <a:srgbClr val="000000"/>
                </a:solidFill>
              </a:rPr>
              <a:t>Pausuak:</a:t>
            </a:r>
          </a:p>
          <a:p>
            <a:pPr/>
            <a:r>
              <a:rPr dirty="0" sz="1400">
                <a:solidFill>
                  <a:srgbClr val="000000"/>
                </a:solidFill>
              </a:rPr>
              <a:t>• Workspace: helburu / proiektua</a:t>
            </a:r>
          </a:p>
          <a:p>
            <a:pPr/>
            <a:r>
              <a:rPr dirty="0" sz="1400">
                <a:solidFill>
                  <a:srgbClr val="000000"/>
                </a:solidFill>
              </a:rPr>
              <a:t>• Modules: bilaketa-tresna bakoitza</a:t>
            </a:r>
          </a:p>
          <a:p>
            <a:pPr/>
            <a:r>
              <a:rPr dirty="0" sz="1400">
                <a:solidFill>
                  <a:srgbClr val="000000"/>
                </a:solidFill>
              </a:rPr>
              <a:t>• options: SOURCE eta gainerakoak</a:t>
            </a:r>
          </a:p>
          <a:p>
            <a:pPr/>
            <a:r>
              <a:rPr dirty="0" sz="1400">
                <a:solidFill>
                  <a:srgbClr val="000000"/>
                </a:solidFill>
              </a:rPr>
              <a:t>• run: modulua exekutatu</a:t>
            </a:r>
          </a:p>
          <a:p>
            <a:pPr/>
            <a:r>
              <a:rPr dirty="0" sz="1400">
                <a:solidFill>
                  <a:srgbClr val="000000"/>
                </a:solidFill>
              </a:rPr>
              <a:t>• show / db: emaitzak ikusi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4480" y="6451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dirty="0" sz="1400">
                <a:solidFill>
                  <a:srgbClr val="000000"/>
                </a:solidFill>
              </a:rPr>
              <a:t>Nabigazioa testuingurukoa da: lehenik workspace (proiektua), gero modulua (bilaketa-tresna). Maila bakoitzean aukera desberdinak daude.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174240"/>
            <a:ext cx="8229600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dirty="0" sz="1200">
                <a:latin typeface="Courier New"/>
                <a:cs typeface="Courier New"/>
                <a:solidFill>
                  <a:srgbClr val="000000"/>
                </a:solidFill>
              </a:rPr>
              <a:t>workspaces create nire_helburua</a:t>
            </a:r>
          </a:p>
          <a:p>
            <a:pPr/>
            <a:r>
              <a:rPr dirty="0" sz="1200">
                <a:latin typeface="Courier New"/>
                <a:cs typeface="Courier New"/>
                <a:solidFill>
                  <a:srgbClr val="000000"/>
                </a:solidFill>
              </a:rPr>
              <a:t>modules load recon/domains-hosts/hackertarget</a:t>
            </a:r>
          </a:p>
          <a:p>
            <a:pPr/>
            <a:r>
              <a:rPr dirty="0" sz="1200">
                <a:latin typeface="Courier New"/>
                <a:cs typeface="Courier New"/>
                <a:solidFill>
                  <a:srgbClr val="000000"/>
                </a:solidFill>
              </a:rPr>
              <a:t>options set SOURCE example.com</a:t>
            </a:r>
          </a:p>
          <a:p>
            <a:pPr/>
            <a:r>
              <a:rPr dirty="0" sz="1200">
                <a:latin typeface="Courier New"/>
                <a:cs typeface="Courier New"/>
                <a:solidFill>
                  <a:srgbClr val="000000"/>
                </a:solidFill>
              </a:rPr>
              <a:t>run</a:t>
            </a:r>
          </a:p>
          <a:p>
            <a:pPr/>
            <a:r>
              <a:rPr dirty="0" sz="1200">
                <a:latin typeface="Courier New"/>
                <a:cs typeface="Courier New"/>
                <a:solidFill>
                  <a:srgbClr val="000000"/>
                </a:solidFill>
              </a:rPr>
              <a:t>show hosts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dirty="0" sz="2800" b="1">
                <a:solidFill>
                  <a:srgbClr val="000000"/>
                </a:solidFill>
              </a:rPr>
              <a:t>Praktika: komandoak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80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dirty="0" sz="1600" b="1">
                <a:solidFill>
                  <a:srgbClr val="000000"/>
                </a:solidFill>
              </a:rPr>
              <a:t>Pausuak:</a:t>
            </a:r>
          </a:p>
          <a:p>
            <a:pPr/>
            <a:r>
              <a:rPr dirty="0" sz="1400">
                <a:solidFill>
                  <a:srgbClr val="000000"/>
                </a:solidFill>
              </a:rPr>
              <a:t>• workspaces create nire_helburua</a:t>
            </a:r>
          </a:p>
          <a:p>
            <a:pPr/>
            <a:r>
              <a:rPr dirty="0" sz="1400">
                <a:solidFill>
                  <a:srgbClr val="000000"/>
                </a:solidFill>
              </a:rPr>
              <a:t>• marketplace install .../hackertarget</a:t>
            </a:r>
          </a:p>
          <a:p>
            <a:pPr/>
            <a:r>
              <a:rPr dirty="0" sz="1400">
                <a:solidFill>
                  <a:srgbClr val="000000"/>
                </a:solidFill>
              </a:rPr>
              <a:t>• modules load .../hackertarget</a:t>
            </a:r>
          </a:p>
          <a:p>
            <a:pPr/>
            <a:r>
              <a:rPr dirty="0" sz="1400">
                <a:solidFill>
                  <a:srgbClr val="000000"/>
                </a:solidFill>
              </a:rPr>
              <a:t>• options set SOURCE example.com</a:t>
            </a:r>
          </a:p>
          <a:p>
            <a:pPr/>
            <a:r>
              <a:rPr dirty="0" sz="1400">
                <a:solidFill>
                  <a:srgbClr val="000000"/>
                </a:solidFill>
              </a:rPr>
              <a:t>• run → show hosts → db export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dirty="0" sz="1400">
                <a:solidFill>
                  <a:srgbClr val="000000"/>
                </a:solidFill>
              </a:rPr>
              <a:t>Workspace sortu, HackerTarget modulua instalatu/kargatu, SOURCE ezarri eta exekutatu. Ondoren hostak ikusi eta CSV esportatu.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540000"/>
            <a:ext cx="82296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dirty="0" sz="1200">
                <a:latin typeface="Courier New"/>
                <a:cs typeface="Courier New"/>
                <a:solidFill>
                  <a:srgbClr val="000000"/>
                </a:solidFill>
              </a:rPr>
              <a:t>workspaces create nire_helburua</a:t>
            </a:r>
          </a:p>
          <a:p>
            <a:pPr/>
            <a:r>
              <a:rPr dirty="0" sz="1200">
                <a:latin typeface="Courier New"/>
                <a:cs typeface="Courier New"/>
                <a:solidFill>
                  <a:srgbClr val="000000"/>
                </a:solidFill>
              </a:rPr>
              <a:t>marketplace install recon/domains-hosts/hackertarget</a:t>
            </a:r>
          </a:p>
          <a:p>
            <a:pPr/>
            <a:r>
              <a:rPr dirty="0" sz="1200">
                <a:latin typeface="Courier New"/>
                <a:cs typeface="Courier New"/>
                <a:solidFill>
                  <a:srgbClr val="000000"/>
                </a:solidFill>
              </a:rPr>
              <a:t>modules load recon/domains-hosts/hackertarget</a:t>
            </a:r>
          </a:p>
          <a:p>
            <a:pPr/>
            <a:r>
              <a:rPr dirty="0" sz="1200">
                <a:latin typeface="Courier New"/>
                <a:cs typeface="Courier New"/>
                <a:solidFill>
                  <a:srgbClr val="000000"/>
                </a:solidFill>
              </a:rPr>
              <a:t>options set SOURCE example.com</a:t>
            </a:r>
          </a:p>
          <a:p>
            <a:pPr/>
            <a:r>
              <a:rPr dirty="0" sz="1200">
                <a:latin typeface="Courier New"/>
                <a:cs typeface="Courier New"/>
                <a:solidFill>
                  <a:srgbClr val="000000"/>
                </a:solidFill>
              </a:rPr>
              <a:t>run</a:t>
            </a:r>
          </a:p>
          <a:p>
            <a:pPr/>
            <a:r>
              <a:rPr dirty="0" sz="1200">
                <a:latin typeface="Courier New"/>
                <a:cs typeface="Courier New"/>
                <a:solidFill>
                  <a:srgbClr val="000000"/>
                </a:solidFill>
              </a:rPr>
              <a:t>show hosts</a:t>
            </a:r>
          </a:p>
          <a:p>
            <a:pPr/>
            <a:r>
              <a:rPr dirty="0" sz="1200">
                <a:latin typeface="Courier New"/>
                <a:cs typeface="Courier New"/>
                <a:solidFill>
                  <a:srgbClr val="000000"/>
                </a:solidFill>
              </a:rPr>
              <a:t>db export csv hosts.csv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dirty="0" sz="2800" b="1">
                <a:solidFill>
                  <a:srgbClr val="000000"/>
                </a:solidFill>
              </a:rPr>
              <a:t>Keys: hunter_io / shodan_api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2700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dirty="0" sz="1600" b="1">
                <a:solidFill>
                  <a:srgbClr val="000000"/>
                </a:solidFill>
              </a:rPr>
              <a:t>Pausuak:</a:t>
            </a:r>
          </a:p>
          <a:p>
            <a:pPr/>
            <a:r>
              <a:rPr dirty="0" sz="1400">
                <a:solidFill>
                  <a:srgbClr val="000000"/>
                </a:solidFill>
              </a:rPr>
              <a:t>• keys add hunter_io &lt;ZURE_API_KEY&gt;</a:t>
            </a:r>
          </a:p>
          <a:p>
            <a:pPr/>
            <a:r>
              <a:rPr dirty="0" sz="1400">
                <a:solidFill>
                  <a:srgbClr val="000000"/>
                </a:solidFill>
              </a:rPr>
              <a:t>• keys add shodan_api &lt;ZURE_API_KEY&gt;</a:t>
            </a:r>
          </a:p>
          <a:p>
            <a:pPr/>
            <a:r>
              <a:rPr dirty="0" sz="1400">
                <a:solidFill>
                  <a:srgbClr val="000000"/>
                </a:solidFill>
              </a:rPr>
              <a:t>• keys list — gordetakoak ikusi</a:t>
            </a:r>
          </a:p>
          <a:p>
            <a:pPr/>
            <a:r>
              <a:rPr dirty="0" sz="1400">
                <a:solidFill>
                  <a:srgbClr val="000000"/>
                </a:solidFill>
              </a:rPr>
              <a:t>• Gakoak ez partekatu / ez commit-atu</a:t>
            </a:r>
          </a:p>
          <a:p>
            <a:pPr/>
            <a:r>
              <a:rPr dirty="0" sz="1400">
                <a:solidFill>
                  <a:srgbClr val="000000"/>
                </a:solidFill>
              </a:rPr>
              <a:t>• Doako kuota mugatua izan daiteke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12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dirty="0" sz="1400">
                <a:solidFill>
                  <a:srgbClr val="000000"/>
                </a:solidFill>
              </a:rPr>
              <a:t>API gakoak framework-ean gordetzen dira. Txostenean ez idatzi gako errealik; placeholder bat erabili.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66192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dirty="0" sz="1200">
                <a:latin typeface="Courier New"/>
                <a:cs typeface="Courier New"/>
                <a:solidFill>
                  <a:srgbClr val="000000"/>
                </a:solidFill>
              </a:rPr>
              <a:t>keys add hunter_io ZURE_API_KEY</a:t>
            </a:r>
          </a:p>
          <a:p>
            <a:pPr/>
            <a:r>
              <a:rPr dirty="0" sz="1200">
                <a:latin typeface="Courier New"/>
                <a:cs typeface="Courier New"/>
                <a:solidFill>
                  <a:srgbClr val="000000"/>
                </a:solidFill>
              </a:rPr>
              <a:t>keys add shodan_api ZURE_API_KEY</a:t>
            </a:r>
          </a:p>
          <a:p>
            <a:pPr/>
            <a:r>
              <a:rPr dirty="0" sz="1200">
                <a:latin typeface="Courier New"/>
                <a:cs typeface="Courier New"/>
                <a:solidFill>
                  <a:srgbClr val="000000"/>
                </a:solidFill>
              </a:rPr>
              <a:t>keys list</a:t>
            </a:r>
          </a:p>
          <a:p>
            <a:pPr/>
            <a:r>
              <a:rPr dirty="0" sz="1200">
                <a:latin typeface="Courier New"/>
                <a:cs typeface="Courier New"/>
                <a:solidFill>
                  <a:srgbClr val="000000"/>
                </a:solidFill>
              </a:rPr>
              <a:t># Oharra: ez erabili gako errealik aurkezpenean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dirty="0" sz="2800" b="1">
                <a:solidFill>
                  <a:srgbClr val="000000"/>
                </a:solidFill>
              </a:rPr>
              <a:t>Emaitzak eta esportazioa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27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dirty="0" sz="1600" b="1">
                <a:solidFill>
                  <a:srgbClr val="000000"/>
                </a:solidFill>
              </a:rPr>
              <a:t>Pausuak:</a:t>
            </a:r>
          </a:p>
          <a:p>
            <a:pPr/>
            <a:r>
              <a:rPr dirty="0" sz="1400">
                <a:solidFill>
                  <a:srgbClr val="000000"/>
                </a:solidFill>
              </a:rPr>
              <a:t>• show hosts — taula ikusi</a:t>
            </a:r>
          </a:p>
          <a:p>
            <a:pPr/>
            <a:r>
              <a:rPr dirty="0" sz="1400">
                <a:solidFill>
                  <a:srgbClr val="000000"/>
                </a:solidFill>
              </a:rPr>
              <a:t>• db export csv hosts.csv (edo sqlite export)</a:t>
            </a:r>
          </a:p>
          <a:p>
            <a:pPr/>
            <a:r>
              <a:rPr dirty="0" sz="1400">
                <a:solidFill>
                  <a:srgbClr val="000000"/>
                </a:solidFill>
              </a:rPr>
              <a:t>• Fitxategia txostenarekin igo</a:t>
            </a:r>
          </a:p>
          <a:p>
            <a:pPr/>
            <a:r>
              <a:rPr dirty="0" sz="1400">
                <a:solidFill>
                  <a:srgbClr val="000000"/>
                </a:solidFill>
              </a:rPr>
              <a:t>• Pantaila-argazkiak erantsi</a:t>
            </a:r>
          </a:p>
          <a:p>
            <a:pPr/>
            <a:r>
              <a:rPr dirty="0" sz="1400">
                <a:solidFill>
                  <a:srgbClr val="000000"/>
                </a:solidFill>
              </a:rPr>
              <a:t>• Helburua / data / modulua dokumentatu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010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dirty="0" sz="1400">
                <a:solidFill>
                  <a:srgbClr val="000000"/>
                </a:solidFill>
              </a:rPr>
              <a:t>show hosts emaitzak taulan erakusten ditu. Esportatu CSV (edo DB query) eta erantsi txostenari pantaila-argazkiekin batera.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458720"/>
            <a:ext cx="8229600" cy="1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dirty="0" sz="1200">
                <a:latin typeface="Courier New"/>
                <a:cs typeface="Courier New"/>
                <a:solidFill>
                  <a:srgbClr val="000000"/>
                </a:solidFill>
              </a:rPr>
              <a:t>show hosts</a:t>
            </a:r>
          </a:p>
          <a:p>
            <a:pPr/>
            <a:r>
              <a:rPr dirty="0" sz="1200">
                <a:latin typeface="Courier New"/>
                <a:cs typeface="Courier New"/>
                <a:solidFill>
                  <a:srgbClr val="000000"/>
                </a:solidFill>
              </a:rPr>
              <a:t>db export csv hosts.csv</a:t>
            </a:r>
          </a:p>
          <a:p>
            <a:pPr/>
            <a:r>
              <a:rPr dirty="0" sz="1200">
                <a:latin typeface="Courier New"/>
                <a:cs typeface="Courier New"/>
                <a:solidFill>
                  <a:srgbClr val="000000"/>
                </a:solidFill>
              </a:rPr>
              <a:t># Adibide emaitza (example.com):</a:t>
            </a:r>
          </a:p>
          <a:p>
            <a:pPr/>
            <a:r>
              <a:rPr dirty="0" sz="1200">
                <a:latin typeface="Courier New"/>
                <a:cs typeface="Courier New"/>
                <a:solidFill>
                  <a:srgbClr val="000000"/>
                </a:solidFill>
              </a:rPr>
              <a:t xml:space="preserve">#   example.com      → 172.66.147.243</a:t>
            </a:r>
          </a:p>
          <a:p>
            <a:pPr/>
            <a:r>
              <a:rPr dirty="0" sz="1200">
                <a:latin typeface="Courier New"/>
                <a:cs typeface="Courier New"/>
                <a:solidFill>
                  <a:srgbClr val="000000"/>
                </a:solidFill>
              </a:rPr>
              <a:t xml:space="preserve">#   www.example.com  → 104.20.23.154</a:t>
            </a:r>
          </a:p>
        </p:txBody>
      </p:sp>
      <p:pic>
        <p:nvPicPr>
          <p:cNvPr id="6" name="Picture 5" descr="02_show_ho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288720"/>
            <a:ext cx="6526700" cy="1691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dirty="0" sz="2800" b="1">
                <a:solidFill>
                  <a:srgbClr val="000000"/>
                </a:solidFill>
              </a:rPr>
              <a:t>Exekuzioaren pantaila-argazkia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242843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dirty="0" sz="1600" b="1">
                <a:solidFill>
                  <a:srgbClr val="000000"/>
                </a:solidFill>
              </a:rPr>
              <a:t>Pausuak:</a:t>
            </a:r>
          </a:p>
          <a:p>
            <a:pPr/>
            <a:r>
              <a:rPr dirty="0" sz="1400">
                <a:solidFill>
                  <a:srgbClr val="000000"/>
                </a:solidFill>
              </a:rPr>
              <a:t>• Modulua: recon/domains-hosts/hackertarget</a:t>
            </a:r>
          </a:p>
          <a:p>
            <a:pPr/>
            <a:r>
              <a:rPr dirty="0" sz="1400">
                <a:solidFill>
                  <a:srgbClr val="000000"/>
                </a:solidFill>
              </a:rPr>
              <a:t>• SOURCE: example.com</a:t>
            </a:r>
          </a:p>
          <a:p>
            <a:pPr/>
            <a:r>
              <a:rPr dirty="0" sz="1400">
                <a:solidFill>
                  <a:srgbClr val="000000"/>
                </a:solidFill>
              </a:rPr>
              <a:t>• 2 host berri aurkitu</a:t>
            </a:r>
          </a:p>
          <a:p>
            <a:pPr/>
            <a:r>
              <a:rPr dirty="0" sz="1400">
                <a:solidFill>
                  <a:srgbClr val="000000"/>
                </a:solidFill>
              </a:rPr>
              <a:t>• Emaitzak workspace DB-an gordeta</a:t>
            </a:r>
          </a:p>
          <a:p>
            <a:pPr/>
            <a:r>
              <a:rPr dirty="0" sz="1400">
                <a:solidFill>
                  <a:srgbClr val="000000"/>
                </a:solidFill>
              </a:rPr>
              <a:t>• hosts.csv esportatuta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73346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dirty="0" sz="1400">
                <a:solidFill>
                  <a:srgbClr val="000000"/>
                </a:solidFill>
              </a:rPr>
              <a:t>Laborategian example.com-en gainean hackertarget modulua exekutatu da. Pantaila-argazki gehiago gehitu daitezke praktikaren ondoren.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017520"/>
            <a:ext cx="8229600" cy="1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dirty="0" sz="1200">
                <a:latin typeface="Courier New"/>
                <a:cs typeface="Courier New"/>
                <a:solidFill>
                  <a:srgbClr val="000000"/>
                </a:solidFill>
              </a:rPr>
              <a:t>MODULE =&gt; recon/domains-hosts/hackertarget</a:t>
            </a:r>
          </a:p>
          <a:p>
            <a:pPr/>
            <a:r>
              <a:rPr dirty="0" sz="1200">
                <a:latin typeface="Courier New"/>
                <a:cs typeface="Courier New"/>
                <a:solidFill>
                  <a:srgbClr val="000000"/>
                </a:solidFill>
              </a:rPr>
              <a:t>SOURCE =&gt; example.com</a:t>
            </a:r>
          </a:p>
          <a:p>
            <a:pPr/>
            <a:r>
              <a:rPr dirty="0" sz="1200">
                <a:latin typeface="Courier New"/>
                <a:cs typeface="Courier New"/>
                <a:solidFill>
                  <a:srgbClr val="000000"/>
                </a:solidFill>
              </a:rPr>
              <a:t>[*] Host: example.com</a:t>
            </a:r>
          </a:p>
          <a:p>
            <a:pPr/>
            <a:r>
              <a:rPr dirty="0" sz="1200">
                <a:latin typeface="Courier New"/>
                <a:cs typeface="Courier New"/>
                <a:solidFill>
                  <a:srgbClr val="000000"/>
                </a:solidFill>
              </a:rPr>
              <a:t>[*] Ip_Address: 172.66.147.243</a:t>
            </a:r>
          </a:p>
          <a:p>
            <a:pPr/>
            <a:r>
              <a:rPr dirty="0" sz="1200">
                <a:latin typeface="Courier New"/>
                <a:cs typeface="Courier New"/>
                <a:solidFill>
                  <a:srgbClr val="000000"/>
                </a:solidFill>
              </a:rPr>
              <a:t>[*] Host: www.example.com</a:t>
            </a:r>
          </a:p>
          <a:p>
            <a:pPr/>
            <a:r>
              <a:rPr dirty="0" sz="1200">
                <a:latin typeface="Courier New"/>
                <a:cs typeface="Courier New"/>
                <a:solidFill>
                  <a:srgbClr val="000000"/>
                </a:solidFill>
              </a:rPr>
              <a:t>[*] Ip_Address: 104.20.23.154</a:t>
            </a:r>
          </a:p>
          <a:p>
            <a:pPr/>
            <a:r>
              <a:rPr dirty="0" sz="1200">
                <a:latin typeface="Courier New"/>
                <a:cs typeface="Courier New"/>
                <a:solidFill>
                  <a:srgbClr val="000000"/>
                </a:solidFill>
              </a:rPr>
              <a:t>[*] 2 total (2 new) hosts found.</a:t>
            </a:r>
          </a:p>
        </p:txBody>
      </p:sp>
      <p:pic>
        <p:nvPicPr>
          <p:cNvPr id="6" name="Picture 5" descr="01_r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847520"/>
            <a:ext cx="2883477" cy="16916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dirty="0" sz="2800" b="1">
                <a:solidFill>
                  <a:srgbClr val="000000"/>
                </a:solidFill>
              </a:rPr>
              <a:t>Entrega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242843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dirty="0" sz="1600" b="1">
                <a:solidFill>
                  <a:srgbClr val="000000"/>
                </a:solidFill>
              </a:rPr>
              <a:t>Pausuak:</a:t>
            </a:r>
          </a:p>
          <a:p>
            <a:pPr/>
            <a:r>
              <a:rPr dirty="0" sz="1400">
                <a:solidFill>
                  <a:srgbClr val="000000"/>
                </a:solidFill>
              </a:rPr>
              <a:t>• Urratsak idatzi (workspace, modulua, SOURCE)</a:t>
            </a:r>
          </a:p>
          <a:p>
            <a:pPr/>
            <a:r>
              <a:rPr dirty="0" sz="1400">
                <a:solidFill>
                  <a:srgbClr val="000000"/>
                </a:solidFill>
              </a:rPr>
              <a:t>• Pantaila-argazkiak erantsi</a:t>
            </a:r>
          </a:p>
          <a:p>
            <a:pPr/>
            <a:r>
              <a:rPr dirty="0" sz="1400">
                <a:solidFill>
                  <a:srgbClr val="000000"/>
                </a:solidFill>
              </a:rPr>
              <a:t>• hosts.csv edo antzekoa igo</a:t>
            </a:r>
          </a:p>
          <a:p>
            <a:pPr/>
            <a:r>
              <a:rPr dirty="0" sz="1400">
                <a:solidFill>
                  <a:srgbClr val="000000"/>
                </a:solidFill>
              </a:rPr>
              <a:t>• API key-arik ez sartu</a:t>
            </a:r>
          </a:p>
          <a:p>
            <a:pPr/>
            <a:r>
              <a:rPr dirty="0" sz="1400">
                <a:solidFill>
                  <a:srgbClr val="000000"/>
                </a:solidFill>
              </a:rPr>
              <a:t>• Ondorio labur bat idatzi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73346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dirty="0" sz="1400">
                <a:solidFill>
                  <a:srgbClr val="000000"/>
                </a:solidFill>
              </a:rPr>
              <a:t>Entregagaia: proben dokumentazioa + pantaila-argazkiak. Esportazio-fitxategiak erabili ahal direnean erantsi.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01752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dirty="0" sz="1200">
                <a:latin typeface="Courier New"/>
                <a:cs typeface="Courier New"/>
                <a:solidFill>
                  <a:srgbClr val="000000"/>
                </a:solidFill>
              </a:rPr>
              <a:t># Entregatzekoak:</a:t>
            </a:r>
          </a:p>
          <a:p>
            <a:pPr/>
            <a:r>
              <a:rPr dirty="0" sz="1200">
                <a:latin typeface="Courier New"/>
                <a:cs typeface="Courier New"/>
                <a:solidFill>
                  <a:srgbClr val="000000"/>
                </a:solidFill>
              </a:rPr>
              <a:t xml:space="preserve">#   1) Dokumentua (urratsak + emaitzak)</a:t>
            </a:r>
          </a:p>
          <a:p>
            <a:pPr/>
            <a:r>
              <a:rPr dirty="0" sz="1200">
                <a:latin typeface="Courier New"/>
                <a:cs typeface="Courier New"/>
                <a:solidFill>
                  <a:srgbClr val="000000"/>
                </a:solidFill>
              </a:rPr>
              <a:t xml:space="preserve">#   2) Pantaila-argazkiak</a:t>
            </a:r>
          </a:p>
          <a:p>
            <a:pPr/>
            <a:r>
              <a:rPr dirty="0" sz="1200">
                <a:latin typeface="Courier New"/>
                <a:cs typeface="Courier New"/>
                <a:solidFill>
                  <a:srgbClr val="000000"/>
                </a:solidFill>
              </a:rPr>
              <a:t xml:space="preserve">#   3) Esportazioak (hosts.csv, ...)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dirty="0" sz="2800" b="1">
                <a:solidFill>
                  <a:srgbClr val="000000"/>
                </a:solidFill>
              </a:rPr>
              <a:t>Etika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242843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dirty="0" sz="1600" b="1">
                <a:solidFill>
                  <a:srgbClr val="000000"/>
                </a:solidFill>
              </a:rPr>
              <a:t>Pausuak:</a:t>
            </a:r>
          </a:p>
          <a:p>
            <a:pPr/>
            <a:r>
              <a:rPr dirty="0" sz="1400">
                <a:solidFill>
                  <a:srgbClr val="000000"/>
                </a:solidFill>
              </a:rPr>
              <a:t>• Iturri publikoak / legezkoak</a:t>
            </a:r>
          </a:p>
          <a:p>
            <a:pPr/>
            <a:r>
              <a:rPr dirty="0" sz="1400">
                <a:solidFill>
                  <a:srgbClr val="000000"/>
                </a:solidFill>
              </a:rPr>
              <a:t>• Helburu propioak edo baimenduak</a:t>
            </a:r>
          </a:p>
          <a:p>
            <a:pPr/>
            <a:r>
              <a:rPr dirty="0" sz="1400">
                <a:solidFill>
                  <a:srgbClr val="000000"/>
                </a:solidFill>
              </a:rPr>
              <a:t>• API key-ak sekretu mantendu</a:t>
            </a:r>
          </a:p>
          <a:p>
            <a:pPr/>
            <a:r>
              <a:rPr dirty="0" sz="1400">
                <a:solidFill>
                  <a:srgbClr val="000000"/>
                </a:solidFill>
              </a:rPr>
              <a:t>• Ez erabili datuak gaizki</a:t>
            </a:r>
          </a:p>
          <a:p>
            <a:pPr/>
            <a:r>
              <a:rPr dirty="0" sz="1400">
                <a:solidFill>
                  <a:srgbClr val="000000"/>
                </a:solidFill>
              </a:rPr>
              <a:t>• Klaseko arauak errespetatu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73346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dirty="0" sz="1400">
                <a:solidFill>
                  <a:srgbClr val="000000"/>
                </a:solidFill>
              </a:rPr>
              <a:t>Iturri publikoak eta legezkoak soilik. Helburu propioak edo baimenduak. API key-ak ez partekatu txostenean.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01752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dirty="0" sz="1200">
                <a:latin typeface="Courier New"/>
                <a:cs typeface="Courier New"/>
                <a:solidFill>
                  <a:srgbClr val="000000"/>
                </a:solidFill>
              </a:rPr>
              <a:t># Gogoratu:</a:t>
            </a:r>
          </a:p>
          <a:p>
            <a:pPr/>
            <a:r>
              <a:rPr dirty="0" sz="1200">
                <a:latin typeface="Courier New"/>
                <a:cs typeface="Courier New"/>
                <a:solidFill>
                  <a:srgbClr val="000000"/>
                </a:solidFill>
              </a:rPr>
              <a:t xml:space="preserve">#   - OSINT ≠ baimenik gabeko erasoa</a:t>
            </a:r>
          </a:p>
          <a:p>
            <a:pPr/>
            <a:r>
              <a:rPr dirty="0" sz="1200">
                <a:latin typeface="Courier New"/>
                <a:cs typeface="Courier New"/>
                <a:solidFill>
                  <a:srgbClr val="000000"/>
                </a:solidFill>
              </a:rPr>
              <a:t xml:space="preserve">#   - example.com / helburu baimenduak</a:t>
            </a:r>
          </a:p>
          <a:p>
            <a:pPr/>
            <a:r>
              <a:rPr dirty="0" sz="1200">
                <a:latin typeface="Courier New"/>
                <a:cs typeface="Courier New"/>
                <a:solidFill>
                  <a:srgbClr val="000000"/>
                </a:solidFill>
              </a:rPr>
              <a:t xml:space="preserve">#   - keys: ZURE_API_KEY (placeholder)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413</TotalTime>
  <Words>1100</Words>
  <Application>Microsoft Office PowerPoint</Application>
  <PresentationFormat>Presentación en pantalla (4:3)</PresentationFormat>
  <Paragraphs>238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Calibri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Josune De Sosa Querejeta</dc:creator>
  <cp:keywords/>
  <dc:description>generated using python-pptx</dc:description>
  <cp:lastModifiedBy>Josune De Sosa Querejeta</cp:lastModifiedBy>
  <cp:revision>6</cp:revision>
  <dcterms:created xsi:type="dcterms:W3CDTF">2013-01-27T09:14:16Z</dcterms:created>
  <dcterms:modified xsi:type="dcterms:W3CDTF">2025-11-17T20:18:02Z</dcterms:modified>
  <cp:category/>
</cp:coreProperties>
</file>