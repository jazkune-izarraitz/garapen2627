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2A3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9728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>
                <a:solidFill>
                  <a:srgbClr val="9FD7D4"/>
                </a:solidFill>
                <a:latin typeface="Calibri"/>
              </a:rPr>
              <a:t>GARAPEN INGURUNEAK · JDBC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3291840"/>
            <a:ext cx="10058400" cy="12801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4800" b="1">
                <a:solidFill>
                  <a:srgbClr val="F4F8F9"/>
                </a:solidFill>
                <a:latin typeface="Georgia"/>
              </a:rPr>
              <a:t>Konektoreekin hasiera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4754880"/>
            <a:ext cx="10058400" cy="10972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800" b="0">
                <a:solidFill>
                  <a:srgbClr val="D5E4E7"/>
                </a:solidFill>
                <a:latin typeface="Calibri"/>
              </a:rPr>
              <a:t>Gaur: zergatik behar dugun konektorea, nola konektatzen garen MySQL-ra, eta nola irakurri/idatzi demodb datu-basean Java-tik.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4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9728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>
                <a:solidFill>
                  <a:srgbClr val="0D6E6E"/>
                </a:solidFill>
                <a:latin typeface="Calibri"/>
              </a:rPr>
              <a:t>HELBURUA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10972800" cy="10058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3600" b="1">
                <a:solidFill>
                  <a:srgbClr val="0F2A32"/>
                </a:solidFill>
                <a:latin typeface="Georgia"/>
              </a:rPr>
              <a:t>Zer ikasiko dugu gaur?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828800"/>
            <a:ext cx="3474720" cy="2560320"/>
          </a:xfrm>
          <a:prstGeom prst="roundRect">
            <a:avLst/>
          </a:prstGeom>
          <a:solidFill>
            <a:srgbClr val="F7FAFB"/>
          </a:solidFill>
          <a:ln>
            <a:solidFill>
              <a:srgbClr val="C5D4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59" y="1965960"/>
            <a:ext cx="310896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>
                <a:solidFill>
                  <a:srgbClr val="0D6E6E"/>
                </a:solidFill>
                <a:latin typeface="Calibri"/>
              </a:rPr>
              <a:t>1. Ideia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59" y="2286000"/>
            <a:ext cx="3108960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400" b="0">
                <a:solidFill>
                  <a:srgbClr val="4A6068"/>
                </a:solidFill>
                <a:latin typeface="Calibri"/>
              </a:rPr>
              <a:t>Zer den JDBC konektorea</a:t>
            </a:r>
          </a:p>
          <a:p>
            <a:pPr>
              <a:spcAft>
                <a:spcPts val="400"/>
              </a:spcAft>
            </a:pPr>
            <a:r>
              <a:rPr sz="1400" b="0">
                <a:solidFill>
                  <a:srgbClr val="4A6068"/>
                </a:solidFill>
                <a:latin typeface="Calibri"/>
              </a:rPr>
              <a:t>eta zergatik dagoen</a:t>
            </a:r>
          </a:p>
          <a:p>
            <a:pPr>
              <a:spcAft>
                <a:spcPts val="400"/>
              </a:spcAft>
            </a:pPr>
            <a:r>
              <a:rPr sz="1400" b="0">
                <a:solidFill>
                  <a:srgbClr val="4A6068"/>
                </a:solidFill>
                <a:latin typeface="Calibri"/>
              </a:rPr>
              <a:t>aplikazioaren eta</a:t>
            </a:r>
          </a:p>
          <a:p>
            <a:pPr>
              <a:spcAft>
                <a:spcPts val="400"/>
              </a:spcAft>
            </a:pPr>
            <a:r>
              <a:rPr sz="1400" b="0">
                <a:solidFill>
                  <a:srgbClr val="4A6068"/>
                </a:solidFill>
                <a:latin typeface="Calibri"/>
              </a:rPr>
              <a:t>datu-basearen artean.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43400" y="1828800"/>
            <a:ext cx="3474720" cy="2560320"/>
          </a:xfrm>
          <a:prstGeom prst="roundRect">
            <a:avLst/>
          </a:prstGeom>
          <a:solidFill>
            <a:srgbClr val="F7FAFB"/>
          </a:solidFill>
          <a:ln>
            <a:solidFill>
              <a:srgbClr val="C5D4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26280" y="1965960"/>
            <a:ext cx="310896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>
                <a:solidFill>
                  <a:srgbClr val="0D6E6E"/>
                </a:solidFill>
                <a:latin typeface="Calibri"/>
              </a:rPr>
              <a:t>2. Prestaketa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26280" y="2286000"/>
            <a:ext cx="3108960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400" b="0">
                <a:solidFill>
                  <a:srgbClr val="4A6068"/>
                </a:solidFill>
                <a:latin typeface="Calibri"/>
              </a:rPr>
              <a:t>MySQL (Docker), demodb.sql</a:t>
            </a:r>
          </a:p>
          <a:p>
            <a:pPr>
              <a:spcAft>
                <a:spcPts val="400"/>
              </a:spcAft>
            </a:pPr>
            <a:r>
              <a:rPr sz="1400" b="0">
                <a:solidFill>
                  <a:srgbClr val="4A6068"/>
                </a:solidFill>
                <a:latin typeface="Calibri"/>
              </a:rPr>
              <a:t>eta JAR-a proiektuan</a:t>
            </a:r>
          </a:p>
          <a:p>
            <a:pPr>
              <a:spcAft>
                <a:spcPts val="400"/>
              </a:spcAft>
            </a:pPr>
            <a:r>
              <a:rPr sz="1400" b="0">
                <a:solidFill>
                  <a:srgbClr val="4A6068"/>
                </a:solidFill>
                <a:latin typeface="Calibri"/>
              </a:rPr>
              <a:t>jartzea — bakoitzaren</a:t>
            </a:r>
          </a:p>
          <a:p>
            <a:pPr>
              <a:spcAft>
                <a:spcPts val="400"/>
              </a:spcAft>
            </a:pPr>
            <a:r>
              <a:rPr sz="1400" b="0">
                <a:solidFill>
                  <a:srgbClr val="4A6068"/>
                </a:solidFill>
                <a:latin typeface="Calibri"/>
              </a:rPr>
              <a:t>zergatia.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46720" y="1828800"/>
            <a:ext cx="3474720" cy="2560320"/>
          </a:xfrm>
          <a:prstGeom prst="roundRect">
            <a:avLst/>
          </a:prstGeom>
          <a:solidFill>
            <a:srgbClr val="F7FAFB"/>
          </a:solidFill>
          <a:ln>
            <a:solidFill>
              <a:srgbClr val="C5D4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0" y="1965960"/>
            <a:ext cx="310896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>
                <a:solidFill>
                  <a:srgbClr val="0D6E6E"/>
                </a:solidFill>
                <a:latin typeface="Calibri"/>
              </a:rPr>
              <a:t>3. Praktika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0" y="2286000"/>
            <a:ext cx="3108960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400" b="0">
                <a:solidFill>
                  <a:srgbClr val="4A6068"/>
                </a:solidFill>
                <a:latin typeface="Calibri"/>
              </a:rPr>
              <a:t>SELECT → UPDATE (Statement)</a:t>
            </a:r>
          </a:p>
          <a:p>
            <a:pPr>
              <a:spcAft>
                <a:spcPts val="400"/>
              </a:spcAft>
            </a:pPr>
            <a:r>
              <a:rPr sz="1400" b="0">
                <a:solidFill>
                  <a:srgbClr val="4A6068"/>
                </a:solidFill>
                <a:latin typeface="Calibri"/>
              </a:rPr>
              <a:t>→ PreparedStatement</a:t>
            </a:r>
          </a:p>
          <a:p>
            <a:pPr>
              <a:spcAft>
                <a:spcPts val="400"/>
              </a:spcAft>
            </a:pPr>
            <a:r>
              <a:rPr sz="1400" b="0">
                <a:solidFill>
                  <a:srgbClr val="4A6068"/>
                </a:solidFill>
                <a:latin typeface="Calibri"/>
              </a:rPr>
              <a:t>→ transakzioak.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5669280"/>
            <a:ext cx="10972800" cy="777240"/>
          </a:xfrm>
          <a:prstGeom prst="roundRect">
            <a:avLst/>
          </a:prstGeom>
          <a:solidFill>
            <a:srgbClr val="F4E6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40080" y="5669280"/>
            <a:ext cx="73152" cy="777240"/>
          </a:xfrm>
          <a:prstGeom prst="rect">
            <a:avLst/>
          </a:prstGeom>
          <a:solidFill>
            <a:srgbClr val="C47A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8680" y="5742432"/>
            <a:ext cx="1060704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00" b="1">
                <a:solidFill>
                  <a:srgbClr val="C47A14"/>
                </a:solidFill>
                <a:latin typeface="Calibri"/>
              </a:rPr>
              <a:t>ZERGATIK ORDEN HONETAN?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5961888"/>
            <a:ext cx="10607040" cy="43891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>
                <a:solidFill>
                  <a:srgbClr val="5A3A10"/>
                </a:solidFill>
                <a:latin typeface="Calibri"/>
              </a:rPr>
              <a:t>Lehenik ulertu komunikazioa; gero irakurri; gero idatzi; azkenik idazketa seguruagoa eta kontrolatua.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4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9728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>
                <a:solidFill>
                  <a:srgbClr val="0D6E6E"/>
                </a:solidFill>
                <a:latin typeface="Calibri"/>
              </a:rPr>
              <a:t>ARAZOA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10972800" cy="10058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3600" b="1">
                <a:solidFill>
                  <a:srgbClr val="0F2A32"/>
                </a:solidFill>
                <a:latin typeface="Georgia"/>
              </a:rPr>
              <a:t>Java-k ez du MySQL “hizkuntzarik”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828800"/>
            <a:ext cx="5943600" cy="1371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800" b="0">
                <a:solidFill>
                  <a:srgbClr val="4A6068"/>
                </a:solidFill>
                <a:latin typeface="Calibri"/>
              </a:rPr>
              <a:t>Zure programak objektuak eta metodoak erabiltzen ditu. MySQL-k SQL eta bere protokoloa ulertzen du. Bi mundu horiek ez dira berdinak.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3383280"/>
            <a:ext cx="5943600" cy="1828800"/>
          </a:xfrm>
          <a:prstGeom prst="roundRect">
            <a:avLst/>
          </a:prstGeom>
          <a:solidFill>
            <a:srgbClr val="F7FAFB"/>
          </a:solidFill>
          <a:ln>
            <a:solidFill>
              <a:srgbClr val="C5D4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59" y="3520440"/>
            <a:ext cx="557784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>
                <a:solidFill>
                  <a:srgbClr val="0D6E6E"/>
                </a:solidFill>
                <a:latin typeface="Calibri"/>
              </a:rPr>
              <a:t>Galdera klabea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59" y="3840480"/>
            <a:ext cx="557784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400" b="0">
                <a:solidFill>
                  <a:srgbClr val="4A6068"/>
                </a:solidFill>
                <a:latin typeface="Calibri"/>
              </a:rPr>
              <a:t>Nola esango dio Java aplikazio batek datu-baseari:</a:t>
            </a:r>
          </a:p>
          <a:p>
            <a:pPr>
              <a:spcAft>
                <a:spcPts val="400"/>
              </a:spcAft>
            </a:pPr>
            <a:r>
              <a:rPr sz="1400" b="0">
                <a:solidFill>
                  <a:srgbClr val="4A6068"/>
                </a:solidFill>
                <a:latin typeface="Calibri"/>
              </a:rPr>
              <a:t>“Ekarri DEPT taulako sailak”?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0" y="1828800"/>
            <a:ext cx="4663440" cy="3383280"/>
          </a:xfrm>
          <a:prstGeom prst="roundRect">
            <a:avLst/>
          </a:prstGeom>
          <a:solidFill>
            <a:srgbClr val="F7FAFB"/>
          </a:solidFill>
          <a:ln>
            <a:solidFill>
              <a:srgbClr val="C5D4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040880" y="1965960"/>
            <a:ext cx="4297679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>
                <a:solidFill>
                  <a:srgbClr val="0D6E6E"/>
                </a:solidFill>
                <a:latin typeface="Calibri"/>
              </a:rPr>
              <a:t>Bi aldeak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040880" y="2286000"/>
            <a:ext cx="4297679" cy="2788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400" b="0">
                <a:solidFill>
                  <a:srgbClr val="4A6068"/>
                </a:solidFill>
                <a:latin typeface="Calibri"/>
              </a:rPr>
              <a:t>• Java: klaseak, metodoak, String, int…</a:t>
            </a:r>
          </a:p>
          <a:p>
            <a:pPr>
              <a:spcAft>
                <a:spcPts val="400"/>
              </a:spcAft>
            </a:pPr>
            <a:r>
              <a:rPr sz="1400" b="0">
                <a:solidFill>
                  <a:srgbClr val="4A6068"/>
                </a:solidFill>
                <a:latin typeface="Calibri"/>
              </a:rPr>
              <a:t>• MySQL: taulak, SQL, portuak, erabiltzaileak…</a:t>
            </a:r>
          </a:p>
          <a:p>
            <a:pPr>
              <a:spcAft>
                <a:spcPts val="400"/>
              </a:spcAft>
            </a:pPr>
            <a:r>
              <a:rPr sz="1400" b="0">
                <a:solidFill>
                  <a:srgbClr val="4A6068"/>
                </a:solidFill>
                <a:latin typeface="Calibri"/>
              </a:rPr>
              <a:t>• Tartean falta dena: itzultzaile/zubi bat.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4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9728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>
                <a:solidFill>
                  <a:srgbClr val="0D6E6E"/>
                </a:solidFill>
                <a:latin typeface="Calibri"/>
              </a:rPr>
              <a:t>DEFINIZIOA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10972800" cy="10058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3600" b="1">
                <a:solidFill>
                  <a:srgbClr val="0F2A32"/>
                </a:solidFill>
                <a:latin typeface="Georgia"/>
              </a:rPr>
              <a:t>Zer da konektorea?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737360"/>
            <a:ext cx="5669280" cy="1463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700" b="0">
                <a:solidFill>
                  <a:srgbClr val="4A6068"/>
                </a:solidFill>
                <a:latin typeface="Calibri"/>
              </a:rPr>
              <a:t>Konektorea (driver) zure aplikazioaren eta DBKSaren arteko zubia da. JDBC API-ko komandoak hartu eta datu-basearen protokolo natibora bihurtzen ditu.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3383280"/>
            <a:ext cx="5669280" cy="777240"/>
          </a:xfrm>
          <a:prstGeom prst="roundRect">
            <a:avLst/>
          </a:prstGeom>
          <a:solidFill>
            <a:srgbClr val="F4E6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3383280"/>
            <a:ext cx="73152" cy="777240"/>
          </a:xfrm>
          <a:prstGeom prst="rect">
            <a:avLst/>
          </a:prstGeom>
          <a:solidFill>
            <a:srgbClr val="C47A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3456432"/>
            <a:ext cx="530352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00" b="1">
                <a:solidFill>
                  <a:srgbClr val="C47A14"/>
                </a:solidFill>
                <a:latin typeface="Calibri"/>
              </a:rPr>
              <a:t>ZERTARAKO ERABILIKO DUGU?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3675888"/>
            <a:ext cx="5303520" cy="43891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>
                <a:solidFill>
                  <a:srgbClr val="5A3A10"/>
                </a:solidFill>
                <a:latin typeface="Calibri"/>
              </a:rPr>
              <a:t>Java-tik demodb irakurri eta aldatzeko: sailak zerrendatu, izenak eguneratu, erroreetan atzera egin.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4389120"/>
            <a:ext cx="5669280" cy="7315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>
                <a:solidFill>
                  <a:srgbClr val="0D6E6E"/>
                </a:solidFill>
                <a:latin typeface="Calibri"/>
              </a:rPr>
              <a:t>JDBC = Java API estandarra
Driver = MySQL-rako inplementazioa (JAR)</a:t>
            </a:r>
          </a:p>
        </p:txBody>
      </p:sp>
      <p:pic>
        <p:nvPicPr>
          <p:cNvPr id="10" name="Picture 9" descr="konektorea-diagram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2240" y="1645920"/>
            <a:ext cx="5029200" cy="282892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4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9728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>
                <a:solidFill>
                  <a:srgbClr val="0D6E6E"/>
                </a:solidFill>
                <a:latin typeface="Calibri"/>
              </a:rPr>
              <a:t>ARKITEKTURA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10972800" cy="10058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3600" b="1">
                <a:solidFill>
                  <a:srgbClr val="0F2A32"/>
                </a:solidFill>
                <a:latin typeface="Georgia"/>
              </a:rPr>
              <a:t>Hiru geruza, rol bakoitza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828800"/>
            <a:ext cx="3200400" cy="1828800"/>
          </a:xfrm>
          <a:prstGeom prst="roundRect">
            <a:avLst/>
          </a:prstGeom>
          <a:solidFill>
            <a:srgbClr val="F7FAFB"/>
          </a:solidFill>
          <a:ln w="25400">
            <a:solidFill>
              <a:srgbClr val="0D6E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59" y="2057400"/>
            <a:ext cx="283464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800" b="1">
                <a:solidFill>
                  <a:srgbClr val="0F2A32"/>
                </a:solidFill>
                <a:latin typeface="Calibri"/>
              </a:rPr>
              <a:t>Java aplikazioa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59" y="2606040"/>
            <a:ext cx="2834640" cy="82296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400" b="0">
                <a:solidFill>
                  <a:srgbClr val="4A6068"/>
                </a:solidFill>
                <a:latin typeface="Calibri"/>
              </a:rPr>
              <a:t>Zure kodea:
Statement, ResultSet…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80560" y="1828800"/>
            <a:ext cx="3200400" cy="1828800"/>
          </a:xfrm>
          <a:prstGeom prst="roundRect">
            <a:avLst/>
          </a:prstGeom>
          <a:solidFill>
            <a:srgbClr val="F4E6D0"/>
          </a:solidFill>
          <a:ln w="25400">
            <a:solidFill>
              <a:srgbClr val="C47A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663440" y="2057400"/>
            <a:ext cx="283464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800" b="1">
                <a:solidFill>
                  <a:srgbClr val="0F2A32"/>
                </a:solidFill>
                <a:latin typeface="Calibri"/>
              </a:rPr>
              <a:t>Konektorea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63440" y="2606040"/>
            <a:ext cx="2834640" cy="82296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400" b="0">
                <a:solidFill>
                  <a:srgbClr val="4A6068"/>
                </a:solidFill>
                <a:latin typeface="Calibri"/>
              </a:rPr>
              <a:t>mysql-connector.jar
Itzulpena + sarea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321040" y="1828800"/>
            <a:ext cx="3200400" cy="1828800"/>
          </a:xfrm>
          <a:prstGeom prst="roundRect">
            <a:avLst/>
          </a:prstGeom>
          <a:solidFill>
            <a:srgbClr val="F7FAFB"/>
          </a:solidFill>
          <a:ln w="25400">
            <a:solidFill>
              <a:srgbClr val="0D6E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503919" y="2057400"/>
            <a:ext cx="283464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800" b="1">
                <a:solidFill>
                  <a:srgbClr val="0F2A32"/>
                </a:solidFill>
                <a:latin typeface="Calibri"/>
              </a:rPr>
              <a:t>MySQL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03919" y="2606040"/>
            <a:ext cx="2834640" cy="82296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400" b="0">
                <a:solidFill>
                  <a:srgbClr val="4A6068"/>
                </a:solidFill>
                <a:latin typeface="Calibri"/>
              </a:rPr>
              <a:t>demodb
DEPT / EMP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840480" y="2377440"/>
            <a:ext cx="54864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2800" b="1">
                <a:solidFill>
                  <a:srgbClr val="0D6E6E"/>
                </a:solidFill>
                <a:latin typeface="Calibri"/>
              </a:rPr>
              <a:t>→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80960" y="2377440"/>
            <a:ext cx="54864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2800" b="1">
                <a:solidFill>
                  <a:srgbClr val="0D6E6E"/>
                </a:solidFill>
                <a:latin typeface="Calibri"/>
              </a:rPr>
              <a:t>→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4023360"/>
            <a:ext cx="3474720" cy="1463040"/>
          </a:xfrm>
          <a:prstGeom prst="roundRect">
            <a:avLst/>
          </a:prstGeom>
          <a:solidFill>
            <a:srgbClr val="F7FAFB"/>
          </a:solidFill>
          <a:ln>
            <a:solidFill>
              <a:srgbClr val="C5D4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59" y="4160520"/>
            <a:ext cx="310896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>
                <a:solidFill>
                  <a:srgbClr val="0D6E6E"/>
                </a:solidFill>
                <a:latin typeface="Calibri"/>
              </a:rPr>
              <a:t>Zergatik JAR?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59" y="4480560"/>
            <a:ext cx="31089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400" b="0">
                <a:solidFill>
                  <a:srgbClr val="4A6068"/>
                </a:solidFill>
                <a:latin typeface="Calibri"/>
              </a:rPr>
              <a:t>MySQL-ren “hizkuntza” ez dator</a:t>
            </a:r>
          </a:p>
          <a:p>
            <a:pPr>
              <a:spcAft>
                <a:spcPts val="400"/>
              </a:spcAft>
            </a:pPr>
            <a:r>
              <a:rPr sz="1400" b="0">
                <a:solidFill>
                  <a:srgbClr val="4A6068"/>
                </a:solidFill>
                <a:latin typeface="Calibri"/>
              </a:rPr>
              <a:t>Javarekin. Classpath-ean gehitu.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343400" y="4023360"/>
            <a:ext cx="3474720" cy="1463040"/>
          </a:xfrm>
          <a:prstGeom prst="roundRect">
            <a:avLst/>
          </a:prstGeom>
          <a:solidFill>
            <a:srgbClr val="F7FAFB"/>
          </a:solidFill>
          <a:ln>
            <a:solidFill>
              <a:srgbClr val="C5D4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26280" y="4160520"/>
            <a:ext cx="310896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>
                <a:solidFill>
                  <a:srgbClr val="0D6E6E"/>
                </a:solidFill>
                <a:latin typeface="Calibri"/>
              </a:rPr>
              <a:t>Zergatik JDBC URL?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26280" y="4480560"/>
            <a:ext cx="31089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400" b="0">
                <a:solidFill>
                  <a:srgbClr val="4A6068"/>
                </a:solidFill>
                <a:latin typeface="Calibri"/>
              </a:rPr>
              <a:t>Non, zein portu, zein DB:</a:t>
            </a:r>
          </a:p>
          <a:p>
            <a:pPr>
              <a:spcAft>
                <a:spcPts val="400"/>
              </a:spcAft>
            </a:pPr>
            <a:r>
              <a:rPr sz="1400" b="0">
                <a:solidFill>
                  <a:srgbClr val="4A6068"/>
                </a:solidFill>
                <a:latin typeface="Calibri"/>
              </a:rPr>
              <a:t>jdbc:mysql://localhost:3306/demodb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046720" y="4023360"/>
            <a:ext cx="3474720" cy="1463040"/>
          </a:xfrm>
          <a:prstGeom prst="roundRect">
            <a:avLst/>
          </a:prstGeom>
          <a:solidFill>
            <a:srgbClr val="F7FAFB"/>
          </a:solidFill>
          <a:ln>
            <a:solidFill>
              <a:srgbClr val="C5D4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29600" y="4160520"/>
            <a:ext cx="310896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>
                <a:solidFill>
                  <a:srgbClr val="0D6E6E"/>
                </a:solidFill>
                <a:latin typeface="Calibri"/>
              </a:rPr>
              <a:t>Zergatik Docker?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600" y="4480560"/>
            <a:ext cx="31089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400" b="0">
                <a:solidFill>
                  <a:srgbClr val="4A6068"/>
                </a:solidFill>
                <a:latin typeface="Calibri"/>
              </a:rPr>
              <a:t>Instalazio berdina denentzat.</a:t>
            </a:r>
          </a:p>
          <a:p>
            <a:pPr>
              <a:spcAft>
                <a:spcPts val="400"/>
              </a:spcAft>
            </a:pPr>
            <a:r>
              <a:rPr sz="1400" b="0">
                <a:solidFill>
                  <a:srgbClr val="4A6068"/>
                </a:solidFill>
                <a:latin typeface="Calibri"/>
              </a:rPr>
              <a:t>Portua mapeatu kanpotik sartzeko.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4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9728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>
                <a:solidFill>
                  <a:srgbClr val="0D6E6E"/>
                </a:solidFill>
                <a:latin typeface="Calibri"/>
              </a:rPr>
              <a:t>PRESTAKETA · 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10972800" cy="10058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3600" b="1">
                <a:solidFill>
                  <a:srgbClr val="0F2A32"/>
                </a:solidFill>
                <a:latin typeface="Georgia"/>
              </a:rPr>
              <a:t>Ariketa baino lehen: 3 pieza</a:t>
            </a:r>
          </a:p>
        </p:txBody>
      </p:sp>
      <p:sp>
        <p:nvSpPr>
          <p:cNvPr id="4" name="Oval 3"/>
          <p:cNvSpPr/>
          <p:nvPr/>
        </p:nvSpPr>
        <p:spPr>
          <a:xfrm>
            <a:off x="640080" y="1828800"/>
            <a:ext cx="502920" cy="502920"/>
          </a:xfrm>
          <a:prstGeom prst="ellipse">
            <a:avLst/>
          </a:prstGeom>
          <a:solidFill>
            <a:srgbClr val="0D6E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901952"/>
            <a:ext cx="50292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600" b="1">
                <a:solidFill>
                  <a:srgbClr val="F4F8F9"/>
                </a:solidFill>
                <a:latin typeface="Calibri"/>
              </a:rPr>
              <a:t>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371600" y="1783080"/>
            <a:ext cx="10058400" cy="914400"/>
          </a:xfrm>
          <a:prstGeom prst="roundRect">
            <a:avLst/>
          </a:prstGeom>
          <a:solidFill>
            <a:srgbClr val="F7FAFB"/>
          </a:solidFill>
          <a:ln>
            <a:solidFill>
              <a:srgbClr val="C5D4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00200" y="1828800"/>
            <a:ext cx="96012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>
                <a:solidFill>
                  <a:srgbClr val="142428"/>
                </a:solidFill>
                <a:latin typeface="Calibri"/>
              </a:rPr>
              <a:t>MySQL martxan (Docker)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00200" y="2148840"/>
            <a:ext cx="960120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>
                <a:solidFill>
                  <a:srgbClr val="4A6068"/>
                </a:solidFill>
                <a:latin typeface="Calibri"/>
              </a:rPr>
              <a:t>Datuak nonbait egon behar dute. Kontainerra = DBKS berdina ikasle guztientzat.</a:t>
            </a:r>
          </a:p>
        </p:txBody>
      </p:sp>
      <p:sp>
        <p:nvSpPr>
          <p:cNvPr id="9" name="Oval 8"/>
          <p:cNvSpPr/>
          <p:nvPr/>
        </p:nvSpPr>
        <p:spPr>
          <a:xfrm>
            <a:off x="640080" y="2880360"/>
            <a:ext cx="502920" cy="502920"/>
          </a:xfrm>
          <a:prstGeom prst="ellipse">
            <a:avLst/>
          </a:prstGeom>
          <a:solidFill>
            <a:srgbClr val="0D6E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2953512"/>
            <a:ext cx="50292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600" b="1">
                <a:solidFill>
                  <a:srgbClr val="F4F8F9"/>
                </a:solidFill>
                <a:latin typeface="Calibri"/>
              </a:rPr>
              <a:t>2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371600" y="2834640"/>
            <a:ext cx="10058400" cy="914400"/>
          </a:xfrm>
          <a:prstGeom prst="roundRect">
            <a:avLst/>
          </a:prstGeom>
          <a:solidFill>
            <a:srgbClr val="F7FAFB"/>
          </a:solidFill>
          <a:ln>
            <a:solidFill>
              <a:srgbClr val="C5D4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600200" y="2880360"/>
            <a:ext cx="96012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>
                <a:solidFill>
                  <a:srgbClr val="142428"/>
                </a:solidFill>
                <a:latin typeface="Calibri"/>
              </a:rPr>
              <a:t>demodb.sql inportatu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00200" y="3200400"/>
            <a:ext cx="960120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>
                <a:solidFill>
                  <a:srgbClr val="4A6068"/>
                </a:solidFill>
                <a:latin typeface="Calibri"/>
              </a:rPr>
              <a:t>Taularik gabe ez dago zer kontsultatu. Script-ak DEPT eta EMP sortzen ditu.</a:t>
            </a:r>
          </a:p>
        </p:txBody>
      </p:sp>
      <p:sp>
        <p:nvSpPr>
          <p:cNvPr id="14" name="Oval 13"/>
          <p:cNvSpPr/>
          <p:nvPr/>
        </p:nvSpPr>
        <p:spPr>
          <a:xfrm>
            <a:off x="640080" y="3931920"/>
            <a:ext cx="502920" cy="502920"/>
          </a:xfrm>
          <a:prstGeom prst="ellipse">
            <a:avLst/>
          </a:prstGeom>
          <a:solidFill>
            <a:srgbClr val="0D6E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4005072"/>
            <a:ext cx="50292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600" b="1">
                <a:solidFill>
                  <a:srgbClr val="F4F8F9"/>
                </a:solidFill>
                <a:latin typeface="Calibri"/>
              </a:rPr>
              <a:t>3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371600" y="3886200"/>
            <a:ext cx="10058400" cy="914400"/>
          </a:xfrm>
          <a:prstGeom prst="roundRect">
            <a:avLst/>
          </a:prstGeom>
          <a:solidFill>
            <a:srgbClr val="F7FAFB"/>
          </a:solidFill>
          <a:ln>
            <a:solidFill>
              <a:srgbClr val="C5D4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600200" y="3931920"/>
            <a:ext cx="96012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>
                <a:solidFill>
                  <a:srgbClr val="142428"/>
                </a:solidFill>
                <a:latin typeface="Calibri"/>
              </a:rPr>
              <a:t>mysql-connector JAR proiektuan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600200" y="4251959"/>
            <a:ext cx="960120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>
                <a:solidFill>
                  <a:srgbClr val="4A6068"/>
                </a:solidFill>
                <a:latin typeface="Calibri"/>
              </a:rPr>
              <a:t>Java-k MySQL-rekin hitz egiteko driver-a behar du. Gabe: SQLException.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" y="5669280"/>
            <a:ext cx="10972800" cy="777240"/>
          </a:xfrm>
          <a:prstGeom prst="roundRect">
            <a:avLst/>
          </a:prstGeom>
          <a:solidFill>
            <a:srgbClr val="F4E6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40080" y="5669280"/>
            <a:ext cx="73152" cy="777240"/>
          </a:xfrm>
          <a:prstGeom prst="rect">
            <a:avLst/>
          </a:prstGeom>
          <a:solidFill>
            <a:srgbClr val="C47A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68680" y="5742432"/>
            <a:ext cx="1060704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00" b="1">
                <a:solidFill>
                  <a:srgbClr val="C47A14"/>
                </a:solidFill>
                <a:latin typeface="Calibri"/>
              </a:rPr>
              <a:t>GOGORATU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8680" y="5961888"/>
            <a:ext cx="10607040" cy="43891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>
                <a:solidFill>
                  <a:srgbClr val="5A3A10"/>
                </a:solidFill>
                <a:latin typeface="Calibri"/>
              </a:rPr>
              <a:t>Host 127.0.0.1 · Portua 3306 (edo zure hostPort) · Erabiltzailea root · Datu-basea demodb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4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9728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>
                <a:solidFill>
                  <a:srgbClr val="0D6E6E"/>
                </a:solidFill>
                <a:latin typeface="Calibri"/>
              </a:rPr>
              <a:t>1. URRATSA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10972800" cy="10058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3600" b="1">
                <a:solidFill>
                  <a:srgbClr val="0F2A32"/>
                </a:solidFill>
                <a:latin typeface="Georgia"/>
              </a:rPr>
              <a:t>Konexioa: atea ireki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737360"/>
            <a:ext cx="5669280" cy="11887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0">
                <a:solidFill>
                  <a:srgbClr val="4A6068"/>
                </a:solidFill>
                <a:latin typeface="Calibri"/>
              </a:rPr>
              <a:t>DriverManager.getConnection(...) deitzen duzunean, JDBC-k driver egokia bilatzen du URL-aren arabera eta Connection objektua itzultzen du.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3017520"/>
            <a:ext cx="5669280" cy="777240"/>
          </a:xfrm>
          <a:prstGeom prst="roundRect">
            <a:avLst/>
          </a:prstGeom>
          <a:solidFill>
            <a:srgbClr val="F4E6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3017520"/>
            <a:ext cx="73152" cy="777240"/>
          </a:xfrm>
          <a:prstGeom prst="rect">
            <a:avLst/>
          </a:prstGeom>
          <a:solidFill>
            <a:srgbClr val="C47A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3090672"/>
            <a:ext cx="530352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00" b="1">
                <a:solidFill>
                  <a:srgbClr val="C47A14"/>
                </a:solidFill>
                <a:latin typeface="Calibri"/>
              </a:rPr>
              <a:t>ZERGATIK LEHENENGO HAU?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3310127"/>
            <a:ext cx="5303520" cy="43891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>
                <a:solidFill>
                  <a:srgbClr val="5A3A10"/>
                </a:solidFill>
                <a:latin typeface="Calibri"/>
              </a:rPr>
              <a:t>Konexiorik gabe ezin da SQL bidali. Ariketa guztiak Connection horretatik abiatzen dira.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4023360"/>
            <a:ext cx="5669280" cy="1645920"/>
          </a:xfrm>
          <a:prstGeom prst="roundRect">
            <a:avLst/>
          </a:prstGeom>
          <a:solidFill>
            <a:srgbClr val="F7FAFB"/>
          </a:solidFill>
          <a:ln>
            <a:solidFill>
              <a:srgbClr val="C5D4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59" y="4160520"/>
            <a:ext cx="530352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>
                <a:solidFill>
                  <a:srgbClr val="0D6E6E"/>
                </a:solidFill>
                <a:latin typeface="Calibri"/>
              </a:rPr>
              <a:t>Ondo egiteko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59" y="4480560"/>
            <a:ext cx="530352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400" b="0">
                <a:solidFill>
                  <a:srgbClr val="4A6068"/>
                </a:solidFill>
                <a:latin typeface="Calibri"/>
              </a:rPr>
              <a:t>• try-with-resources → konexioa beti itxi</a:t>
            </a:r>
          </a:p>
          <a:p>
            <a:pPr>
              <a:spcAft>
                <a:spcPts val="400"/>
              </a:spcAft>
            </a:pPr>
            <a:r>
              <a:rPr sz="1400" b="0">
                <a:solidFill>
                  <a:srgbClr val="4A6068"/>
                </a:solidFill>
                <a:latin typeface="Calibri"/>
              </a:rPr>
              <a:t>• URL + erabiltzaile + pasahitz zuzenak</a:t>
            </a:r>
          </a:p>
          <a:p>
            <a:pPr>
              <a:spcAft>
                <a:spcPts val="400"/>
              </a:spcAft>
            </a:pPr>
            <a:r>
              <a:rPr sz="1400" b="0">
                <a:solidFill>
                  <a:srgbClr val="4A6068"/>
                </a:solidFill>
                <a:latin typeface="Calibri"/>
              </a:rPr>
              <a:t>• Errorea? JAR, portua edo demodb falta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83680" y="1737360"/>
            <a:ext cx="4937760" cy="3931920"/>
          </a:xfrm>
          <a:prstGeom prst="roundRect">
            <a:avLst/>
          </a:prstGeom>
          <a:solidFill>
            <a:srgbClr val="1026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766560" y="1874519"/>
            <a:ext cx="45720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200">
                <a:solidFill>
                  <a:srgbClr val="D7ECE9"/>
                </a:solidFill>
                <a:latin typeface="Consolas"/>
              </a:rPr>
              <a:t>// JDBC URL</a:t>
            </a:r>
          </a:p>
          <a:p>
            <a:pPr>
              <a:spcAft>
                <a:spcPts val="200"/>
              </a:spcAft>
            </a:pPr>
            <a:r>
              <a:rPr sz="1200">
                <a:solidFill>
                  <a:srgbClr val="D7ECE9"/>
                </a:solidFill>
                <a:latin typeface="Consolas"/>
              </a:rPr>
              <a:t>String url =</a:t>
            </a:r>
          </a:p>
          <a:p>
            <a:pPr>
              <a:spcAft>
                <a:spcPts val="200"/>
              </a:spcAft>
            </a:pPr>
            <a:r>
              <a:rPr sz="1200">
                <a:solidFill>
                  <a:srgbClr val="D7ECE9"/>
                </a:solidFill>
                <a:latin typeface="Consolas"/>
              </a:rPr>
              <a:t>  "jdbc:mysql://localhost:3306/demodb";</a:t>
            </a:r>
          </a:p>
          <a:p>
            <a:pPr>
              <a:spcAft>
                <a:spcPts val="200"/>
              </a:spcAft>
            </a:pPr>
            <a:r>
              <a:rPr sz="1200">
                <a:solidFill>
                  <a:srgbClr val="D7ECE9"/>
                </a:solidFill>
                <a:latin typeface="Consolas"/>
              </a:rPr>
              <a:t>String user = "root";</a:t>
            </a:r>
          </a:p>
          <a:p>
            <a:pPr>
              <a:spcAft>
                <a:spcPts val="200"/>
              </a:spcAft>
            </a:pPr>
            <a:r>
              <a:rPr sz="1200">
                <a:solidFill>
                  <a:srgbClr val="D7ECE9"/>
                </a:solidFill>
                <a:latin typeface="Consolas"/>
              </a:rPr>
              <a:t>String pass = "2paag3";</a:t>
            </a:r>
          </a:p>
          <a:p>
            <a:pPr>
              <a:spcAft>
                <a:spcPts val="200"/>
              </a:spcAft>
            </a:pPr>
            <a:r>
              <a:rPr sz="1200">
                <a:solidFill>
                  <a:srgbClr val="D7ECE9"/>
                </a:solidFill>
                <a:latin typeface="Consolas"/>
              </a:rPr>
              <a:t/>
            </a:r>
          </a:p>
          <a:p>
            <a:pPr>
              <a:spcAft>
                <a:spcPts val="200"/>
              </a:spcAft>
            </a:pPr>
            <a:r>
              <a:rPr sz="1200">
                <a:solidFill>
                  <a:srgbClr val="D7ECE9"/>
                </a:solidFill>
                <a:latin typeface="Consolas"/>
              </a:rPr>
              <a:t>try (Connection con =</a:t>
            </a:r>
          </a:p>
          <a:p>
            <a:pPr>
              <a:spcAft>
                <a:spcPts val="200"/>
              </a:spcAft>
            </a:pPr>
            <a:r>
              <a:rPr sz="1200">
                <a:solidFill>
                  <a:srgbClr val="D7ECE9"/>
                </a:solidFill>
                <a:latin typeface="Consolas"/>
              </a:rPr>
              <a:t>  DriverManager.getConnection(</a:t>
            </a:r>
          </a:p>
          <a:p>
            <a:pPr>
              <a:spcAft>
                <a:spcPts val="200"/>
              </a:spcAft>
            </a:pPr>
            <a:r>
              <a:rPr sz="1200">
                <a:solidFill>
                  <a:srgbClr val="D7ECE9"/>
                </a:solidFill>
                <a:latin typeface="Consolas"/>
              </a:rPr>
              <a:t>    url, user, pass)) {</a:t>
            </a:r>
          </a:p>
          <a:p>
            <a:pPr>
              <a:spcAft>
                <a:spcPts val="200"/>
              </a:spcAft>
            </a:pPr>
            <a:r>
              <a:rPr sz="1200">
                <a:solidFill>
                  <a:srgbClr val="D7ECE9"/>
                </a:solidFill>
                <a:latin typeface="Consolas"/>
              </a:rPr>
              <a:t>  System.out.println("Konektatuta!");</a:t>
            </a:r>
          </a:p>
          <a:p>
            <a:pPr>
              <a:spcAft>
                <a:spcPts val="200"/>
              </a:spcAft>
            </a:pPr>
            <a:r>
              <a:rPr sz="1200">
                <a:solidFill>
                  <a:srgbClr val="D7ECE9"/>
                </a:solidFill>
                <a:latin typeface="Consolas"/>
              </a:rPr>
              <a:t>}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4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9728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>
                <a:solidFill>
                  <a:srgbClr val="0D6E6E"/>
                </a:solidFill>
                <a:latin typeface="Calibri"/>
              </a:rPr>
              <a:t>TRESNAK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10972800" cy="10058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3600" b="1">
                <a:solidFill>
                  <a:srgbClr val="0F2A32"/>
                </a:solidFill>
                <a:latin typeface="Georgia"/>
              </a:rPr>
              <a:t>Statement motak (gaur behar ditugunak)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828800"/>
            <a:ext cx="5303520" cy="2926080"/>
          </a:xfrm>
          <a:prstGeom prst="roundRect">
            <a:avLst/>
          </a:prstGeom>
          <a:solidFill>
            <a:srgbClr val="F7FAFB"/>
          </a:solidFill>
          <a:ln>
            <a:solidFill>
              <a:srgbClr val="C5D4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59" y="1965960"/>
            <a:ext cx="4937759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>
                <a:solidFill>
                  <a:srgbClr val="0D6E6E"/>
                </a:solidFill>
                <a:latin typeface="Calibri"/>
              </a:rPr>
              <a:t>Statement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59" y="2286000"/>
            <a:ext cx="4937759" cy="2331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400" b="0">
                <a:solidFill>
                  <a:srgbClr val="4A6068"/>
                </a:solidFill>
                <a:latin typeface="Calibri"/>
              </a:rPr>
              <a:t>SQL kate osoa bidaltzen duzu. Sinplea.</a:t>
            </a:r>
          </a:p>
          <a:p>
            <a:pPr>
              <a:spcAft>
                <a:spcPts val="400"/>
              </a:spcAft>
            </a:pPr>
            <a:r>
              <a:rPr sz="1400" b="0">
                <a:solidFill>
                  <a:srgbClr val="4A6068"/>
                </a:solidFill>
                <a:latin typeface="Calibri"/>
              </a:rPr>
              <a:t>Ariketan 1 eta 2rako.</a:t>
            </a:r>
          </a:p>
          <a:p>
            <a:pPr>
              <a:spcAft>
                <a:spcPts val="400"/>
              </a:spcAft>
            </a:pPr>
            <a:r>
              <a:rPr sz="1400" b="0">
                <a:solidFill>
                  <a:srgbClr val="4A6068"/>
                </a:solidFill>
                <a:latin typeface="Calibri"/>
              </a:rPr>
              <a:t/>
            </a:r>
          </a:p>
          <a:p>
            <a:pPr>
              <a:spcAft>
                <a:spcPts val="400"/>
              </a:spcAft>
            </a:pPr>
            <a:r>
              <a:rPr sz="1400" b="0">
                <a:solidFill>
                  <a:srgbClr val="4A6068"/>
                </a:solidFill>
                <a:latin typeface="Calibri"/>
              </a:rPr>
              <a:t>• executeQuery → SELECT</a:t>
            </a:r>
          </a:p>
          <a:p>
            <a:pPr>
              <a:spcAft>
                <a:spcPts val="400"/>
              </a:spcAft>
            </a:pPr>
            <a:r>
              <a:rPr sz="1400" b="0">
                <a:solidFill>
                  <a:srgbClr val="4A6068"/>
                </a:solidFill>
                <a:latin typeface="Calibri"/>
              </a:rPr>
              <a:t>• executeUpdate → INSERT/UPDATE/DELETE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828800"/>
            <a:ext cx="5303520" cy="2926080"/>
          </a:xfrm>
          <a:prstGeom prst="roundRect">
            <a:avLst/>
          </a:prstGeom>
          <a:solidFill>
            <a:srgbClr val="F7FAFB"/>
          </a:solidFill>
          <a:ln>
            <a:solidFill>
              <a:srgbClr val="C5D4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1965960"/>
            <a:ext cx="4937759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>
                <a:solidFill>
                  <a:srgbClr val="0D6E6E"/>
                </a:solidFill>
                <a:latin typeface="Calibri"/>
              </a:rPr>
              <a:t>PreparedStatement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2286000"/>
            <a:ext cx="4937759" cy="2331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400" b="0">
                <a:solidFill>
                  <a:srgbClr val="4A6068"/>
                </a:solidFill>
                <a:latin typeface="Calibri"/>
              </a:rPr>
              <a:t>SQL txantiloi bat ? parametroekin.</a:t>
            </a:r>
          </a:p>
          <a:p>
            <a:pPr>
              <a:spcAft>
                <a:spcPts val="400"/>
              </a:spcAft>
            </a:pPr>
            <a:r>
              <a:rPr sz="1400" b="0">
                <a:solidFill>
                  <a:srgbClr val="4A6068"/>
                </a:solidFill>
                <a:latin typeface="Calibri"/>
              </a:rPr>
              <a:t>Ariketa 3 (eta 4).</a:t>
            </a:r>
          </a:p>
          <a:p>
            <a:pPr>
              <a:spcAft>
                <a:spcPts val="400"/>
              </a:spcAft>
            </a:pPr>
            <a:r>
              <a:rPr sz="1400" b="0">
                <a:solidFill>
                  <a:srgbClr val="4A6068"/>
                </a:solidFill>
                <a:latin typeface="Calibri"/>
              </a:rPr>
              <a:t/>
            </a:r>
          </a:p>
          <a:p>
            <a:pPr>
              <a:spcAft>
                <a:spcPts val="400"/>
              </a:spcAft>
            </a:pPr>
            <a:r>
              <a:rPr sz="1400" b="0">
                <a:solidFill>
                  <a:srgbClr val="4A6068"/>
                </a:solidFill>
                <a:latin typeface="Calibri"/>
              </a:rPr>
              <a:t>• Seguruagoa (injection)</a:t>
            </a:r>
          </a:p>
          <a:p>
            <a:pPr>
              <a:spcAft>
                <a:spcPts val="400"/>
              </a:spcAft>
            </a:pPr>
            <a:r>
              <a:rPr sz="1400" b="0">
                <a:solidFill>
                  <a:srgbClr val="4A6068"/>
                </a:solidFill>
                <a:latin typeface="Calibri"/>
              </a:rPr>
              <a:t>• Garbiagoa parametroekin</a:t>
            </a:r>
          </a:p>
          <a:p>
            <a:pPr>
              <a:spcAft>
                <a:spcPts val="400"/>
              </a:spcAft>
            </a:pPr>
            <a:r>
              <a:rPr sz="1400" b="0">
                <a:solidFill>
                  <a:srgbClr val="4A6068"/>
                </a:solidFill>
                <a:latin typeface="Calibri"/>
              </a:rPr>
              <a:t>• Berrerabilgarria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5669280"/>
            <a:ext cx="10972800" cy="777240"/>
          </a:xfrm>
          <a:prstGeom prst="roundRect">
            <a:avLst/>
          </a:prstGeom>
          <a:solidFill>
            <a:srgbClr val="F4E6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0080" y="5669280"/>
            <a:ext cx="73152" cy="777240"/>
          </a:xfrm>
          <a:prstGeom prst="rect">
            <a:avLst/>
          </a:prstGeom>
          <a:solidFill>
            <a:srgbClr val="C47A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5742432"/>
            <a:ext cx="1060704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00" b="1">
                <a:solidFill>
                  <a:srgbClr val="C47A14"/>
                </a:solidFill>
                <a:latin typeface="Calibri"/>
              </a:rPr>
              <a:t>ZERGATIK BIAK IKASI?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5961888"/>
            <a:ext cx="10607040" cy="43891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>
                <a:solidFill>
                  <a:srgbClr val="5A3A10"/>
                </a:solidFill>
                <a:latin typeface="Calibri"/>
              </a:rPr>
              <a:t>Lehenik Statement-ekin mekanika ulertu; gero PreparedStatement-ekin ohitura ona finkatu. Produkzioan PreparedStatement nahiago.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4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9728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>
                <a:solidFill>
                  <a:srgbClr val="0D6E6E"/>
                </a:solidFill>
                <a:latin typeface="Calibri"/>
              </a:rPr>
              <a:t>ARIKETA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10972800" cy="10058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3600" b="1">
                <a:solidFill>
                  <a:srgbClr val="0F2A32"/>
                </a:solidFill>
                <a:latin typeface="Georgia"/>
              </a:rPr>
              <a:t>Sailak irakurri (SELECT)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737360"/>
            <a:ext cx="566928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0">
                <a:solidFill>
                  <a:srgbClr val="4A6068"/>
                </a:solidFill>
                <a:latin typeface="Calibri"/>
              </a:rPr>
              <a:t>Helburua: sail bakoitzaren zenbakia eta izena pantailaratu.</a:t>
            </a:r>
          </a:p>
        </p:txBody>
      </p:sp>
      <p:sp>
        <p:nvSpPr>
          <p:cNvPr id="5" name="Oval 4"/>
          <p:cNvSpPr/>
          <p:nvPr/>
        </p:nvSpPr>
        <p:spPr>
          <a:xfrm>
            <a:off x="640080" y="2286000"/>
            <a:ext cx="411480" cy="411480"/>
          </a:xfrm>
          <a:prstGeom prst="ellipse">
            <a:avLst/>
          </a:prstGeom>
          <a:solidFill>
            <a:srgbClr val="0D6E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2331720"/>
            <a:ext cx="41148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400" b="1">
                <a:solidFill>
                  <a:srgbClr val="F4F8F9"/>
                </a:solidFill>
                <a:latin typeface="Calibr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34440" y="2286000"/>
            <a:ext cx="50292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1">
                <a:solidFill>
                  <a:srgbClr val="142428"/>
                </a:solidFill>
                <a:latin typeface="Calibri"/>
              </a:rPr>
              <a:t>Statement sortu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2560320"/>
            <a:ext cx="50292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>
                <a:solidFill>
                  <a:srgbClr val="4A6068"/>
                </a:solidFill>
                <a:latin typeface="Calibri"/>
              </a:rPr>
              <a:t>con.createStatement()</a:t>
            </a:r>
          </a:p>
        </p:txBody>
      </p:sp>
      <p:sp>
        <p:nvSpPr>
          <p:cNvPr id="9" name="Oval 8"/>
          <p:cNvSpPr/>
          <p:nvPr/>
        </p:nvSpPr>
        <p:spPr>
          <a:xfrm>
            <a:off x="640080" y="3063240"/>
            <a:ext cx="411480" cy="411480"/>
          </a:xfrm>
          <a:prstGeom prst="ellipse">
            <a:avLst/>
          </a:prstGeom>
          <a:solidFill>
            <a:srgbClr val="0D6E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3108960"/>
            <a:ext cx="41148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400" b="1">
                <a:solidFill>
                  <a:srgbClr val="F4F8F9"/>
                </a:solidFill>
                <a:latin typeface="Calibri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34440" y="3063240"/>
            <a:ext cx="50292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1">
                <a:solidFill>
                  <a:srgbClr val="142428"/>
                </a:solidFill>
                <a:latin typeface="Calibri"/>
              </a:rPr>
              <a:t>executeQuery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34440" y="3337560"/>
            <a:ext cx="50292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>
                <a:solidFill>
                  <a:srgbClr val="4A6068"/>
                </a:solidFill>
                <a:latin typeface="Calibri"/>
              </a:rPr>
              <a:t>SELECT → ResultSet (taula)</a:t>
            </a:r>
          </a:p>
        </p:txBody>
      </p:sp>
      <p:sp>
        <p:nvSpPr>
          <p:cNvPr id="13" name="Oval 12"/>
          <p:cNvSpPr/>
          <p:nvPr/>
        </p:nvSpPr>
        <p:spPr>
          <a:xfrm>
            <a:off x="640080" y="3840480"/>
            <a:ext cx="411480" cy="411480"/>
          </a:xfrm>
          <a:prstGeom prst="ellipse">
            <a:avLst/>
          </a:prstGeom>
          <a:solidFill>
            <a:srgbClr val="0D6E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3886200"/>
            <a:ext cx="41148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400" b="1">
                <a:solidFill>
                  <a:srgbClr val="F4F8F9"/>
                </a:solidFill>
                <a:latin typeface="Calibri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34440" y="3840480"/>
            <a:ext cx="50292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1">
                <a:solidFill>
                  <a:srgbClr val="142428"/>
                </a:solidFill>
                <a:latin typeface="Calibri"/>
              </a:rPr>
              <a:t>while (rs.next())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34440" y="4114800"/>
            <a:ext cx="50292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>
                <a:solidFill>
                  <a:srgbClr val="4A6068"/>
                </a:solidFill>
                <a:latin typeface="Calibri"/>
              </a:rPr>
              <a:t>Kurtsorea errenkadaz errenkada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4846320"/>
            <a:ext cx="5669280" cy="777240"/>
          </a:xfrm>
          <a:prstGeom prst="roundRect">
            <a:avLst/>
          </a:prstGeom>
          <a:solidFill>
            <a:srgbClr val="F4E6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40080" y="4846320"/>
            <a:ext cx="73152" cy="777240"/>
          </a:xfrm>
          <a:prstGeom prst="rect">
            <a:avLst/>
          </a:prstGeom>
          <a:solidFill>
            <a:srgbClr val="C47A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68680" y="4919472"/>
            <a:ext cx="530352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00" b="1">
                <a:solidFill>
                  <a:srgbClr val="C47A14"/>
                </a:solidFill>
                <a:latin typeface="Calibri"/>
              </a:rPr>
              <a:t>ZERGATIK SELECT LEHENIK?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8680" y="5138928"/>
            <a:ext cx="5303520" cy="43891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>
                <a:solidFill>
                  <a:srgbClr val="5A3A10"/>
                </a:solidFill>
                <a:latin typeface="Calibri"/>
              </a:rPr>
              <a:t>Idatzi aurretik irakurri: datuak daudela ikusi, URL/JAR/taulak ondo daudela frogatu.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583680" y="1737360"/>
            <a:ext cx="4937760" cy="4114800"/>
          </a:xfrm>
          <a:prstGeom prst="roundRect">
            <a:avLst/>
          </a:prstGeom>
          <a:solidFill>
            <a:srgbClr val="1026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766560" y="1874519"/>
            <a:ext cx="45720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200">
                <a:solidFill>
                  <a:srgbClr val="D7ECE9"/>
                </a:solidFill>
                <a:latin typeface="Consolas"/>
              </a:rPr>
              <a:t>Statement st = con.createStatement();</a:t>
            </a:r>
          </a:p>
          <a:p>
            <a:pPr>
              <a:spcAft>
                <a:spcPts val="200"/>
              </a:spcAft>
            </a:pPr>
            <a:r>
              <a:rPr sz="1200">
                <a:solidFill>
                  <a:srgbClr val="D7ECE9"/>
                </a:solidFill>
                <a:latin typeface="Consolas"/>
              </a:rPr>
              <a:t>ResultSet rs = st.executeQuery(</a:t>
            </a:r>
          </a:p>
          <a:p>
            <a:pPr>
              <a:spcAft>
                <a:spcPts val="200"/>
              </a:spcAft>
            </a:pPr>
            <a:r>
              <a:rPr sz="1200">
                <a:solidFill>
                  <a:srgbClr val="D7ECE9"/>
                </a:solidFill>
                <a:latin typeface="Consolas"/>
              </a:rPr>
              <a:t>  "SELECT DEPTNO, DNAME FROM DEPT"</a:t>
            </a:r>
          </a:p>
          <a:p>
            <a:pPr>
              <a:spcAft>
                <a:spcPts val="200"/>
              </a:spcAft>
            </a:pPr>
            <a:r>
              <a:rPr sz="1200">
                <a:solidFill>
                  <a:srgbClr val="D7ECE9"/>
                </a:solidFill>
                <a:latin typeface="Consolas"/>
              </a:rPr>
              <a:t>);</a:t>
            </a:r>
          </a:p>
          <a:p>
            <a:pPr>
              <a:spcAft>
                <a:spcPts val="200"/>
              </a:spcAft>
            </a:pPr>
            <a:r>
              <a:rPr sz="1200">
                <a:solidFill>
                  <a:srgbClr val="D7ECE9"/>
                </a:solidFill>
                <a:latin typeface="Consolas"/>
              </a:rPr>
              <a:t>while (rs.next()) {</a:t>
            </a:r>
          </a:p>
          <a:p>
            <a:pPr>
              <a:spcAft>
                <a:spcPts val="200"/>
              </a:spcAft>
            </a:pPr>
            <a:r>
              <a:rPr sz="1200">
                <a:solidFill>
                  <a:srgbClr val="D7ECE9"/>
                </a:solidFill>
                <a:latin typeface="Consolas"/>
              </a:rPr>
              <a:t>  int no = rs.getInt("DEPTNO");</a:t>
            </a:r>
          </a:p>
          <a:p>
            <a:pPr>
              <a:spcAft>
                <a:spcPts val="200"/>
              </a:spcAft>
            </a:pPr>
            <a:r>
              <a:rPr sz="1200">
                <a:solidFill>
                  <a:srgbClr val="D7ECE9"/>
                </a:solidFill>
                <a:latin typeface="Consolas"/>
              </a:rPr>
              <a:t>  String iz = rs.getString("DNAME");</a:t>
            </a:r>
          </a:p>
          <a:p>
            <a:pPr>
              <a:spcAft>
                <a:spcPts val="200"/>
              </a:spcAft>
            </a:pPr>
            <a:r>
              <a:rPr sz="1200">
                <a:solidFill>
                  <a:srgbClr val="D7ECE9"/>
                </a:solidFill>
                <a:latin typeface="Consolas"/>
              </a:rPr>
              <a:t>  System.out.println(no + " - " + iz);</a:t>
            </a:r>
          </a:p>
          <a:p>
            <a:pPr>
              <a:spcAft>
                <a:spcPts val="200"/>
              </a:spcAft>
            </a:pPr>
            <a:r>
              <a:rPr sz="1200">
                <a:solidFill>
                  <a:srgbClr val="D7ECE9"/>
                </a:solidFill>
                <a:latin typeface="Consolas"/>
              </a:rPr>
              <a:t>}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4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9728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>
                <a:solidFill>
                  <a:srgbClr val="0D6E6E"/>
                </a:solidFill>
                <a:latin typeface="Calibri"/>
              </a:rPr>
              <a:t>ARIKETA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10972800" cy="10058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3600" b="1">
                <a:solidFill>
                  <a:srgbClr val="0F2A32"/>
                </a:solidFill>
                <a:latin typeface="Georgia"/>
              </a:rPr>
              <a:t>Sailaren izena aldatu (Statement)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737360"/>
            <a:ext cx="5669280" cy="8229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0">
                <a:solidFill>
                  <a:srgbClr val="4A6068"/>
                </a:solidFill>
                <a:latin typeface="Calibri"/>
              </a:rPr>
              <a:t>main-eko bi parametro: sail-zenbakia eta izen berria. Oraingoz Statement soilik (ez PreparedStatement).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2651760"/>
            <a:ext cx="5669280" cy="1371600"/>
          </a:xfrm>
          <a:prstGeom prst="roundRect">
            <a:avLst/>
          </a:prstGeom>
          <a:solidFill>
            <a:srgbClr val="F7FAFB"/>
          </a:solidFill>
          <a:ln>
            <a:solidFill>
              <a:srgbClr val="C5D4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59" y="2788920"/>
            <a:ext cx="530352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>
                <a:solidFill>
                  <a:srgbClr val="0D6E6E"/>
                </a:solidFill>
                <a:latin typeface="Calibri"/>
              </a:rPr>
              <a:t>Exekuzio adibidea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59" y="3108960"/>
            <a:ext cx="53035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400" b="0">
                <a:solidFill>
                  <a:srgbClr val="4A6068"/>
                </a:solidFill>
                <a:latin typeface="Calibri"/>
              </a:rPr>
              <a:t>java AldatuSaila 30 Logistika</a:t>
            </a:r>
          </a:p>
          <a:p>
            <a:pPr>
              <a:spcAft>
                <a:spcPts val="400"/>
              </a:spcAft>
            </a:pPr>
            <a:r>
              <a:rPr sz="1400" b="0">
                <a:solidFill>
                  <a:srgbClr val="4A6068"/>
                </a:solidFill>
                <a:latin typeface="Calibri"/>
              </a:rPr>
              <a:t>args[0] = 30 · args[1] = Logistika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4206240"/>
            <a:ext cx="5669280" cy="777240"/>
          </a:xfrm>
          <a:prstGeom prst="roundRect">
            <a:avLst/>
          </a:prstGeom>
          <a:solidFill>
            <a:srgbClr val="F4E6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4206240"/>
            <a:ext cx="73152" cy="777240"/>
          </a:xfrm>
          <a:prstGeom prst="rect">
            <a:avLst/>
          </a:prstGeom>
          <a:solidFill>
            <a:srgbClr val="C47A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4279392"/>
            <a:ext cx="530352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00" b="1">
                <a:solidFill>
                  <a:srgbClr val="C47A14"/>
                </a:solidFill>
                <a:latin typeface="Calibri"/>
              </a:rPr>
              <a:t>ZERGATIK EXECUTEUPDATE?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4498848"/>
            <a:ext cx="5303520" cy="43891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>
                <a:solidFill>
                  <a:srgbClr val="5A3A10"/>
                </a:solidFill>
                <a:latin typeface="Calibri"/>
              </a:rPr>
              <a:t>UPDATE batean ez dugu taularik itzultzen; eraginiko errenkada-kopurua itzultzen du. Hori inprimatu.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83680" y="1737360"/>
            <a:ext cx="4937760" cy="3200400"/>
          </a:xfrm>
          <a:prstGeom prst="roundRect">
            <a:avLst/>
          </a:prstGeom>
          <a:solidFill>
            <a:srgbClr val="1026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766560" y="1874519"/>
            <a:ext cx="457200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200">
                <a:solidFill>
                  <a:srgbClr val="D7ECE9"/>
                </a:solidFill>
                <a:latin typeface="Consolas"/>
              </a:rPr>
              <a:t>int deptno = Integer.parseInt(args[0]);</a:t>
            </a:r>
          </a:p>
          <a:p>
            <a:pPr>
              <a:spcAft>
                <a:spcPts val="200"/>
              </a:spcAft>
            </a:pPr>
            <a:r>
              <a:rPr sz="1200">
                <a:solidFill>
                  <a:srgbClr val="D7ECE9"/>
                </a:solidFill>
                <a:latin typeface="Consolas"/>
              </a:rPr>
              <a:t>String izena = args[1];</a:t>
            </a:r>
          </a:p>
          <a:p>
            <a:pPr>
              <a:spcAft>
                <a:spcPts val="200"/>
              </a:spcAft>
            </a:pPr>
            <a:r>
              <a:rPr sz="1200">
                <a:solidFill>
                  <a:srgbClr val="D7ECE9"/>
                </a:solidFill>
                <a:latin typeface="Consolas"/>
              </a:rPr>
              <a:t/>
            </a:r>
          </a:p>
          <a:p>
            <a:pPr>
              <a:spcAft>
                <a:spcPts val="200"/>
              </a:spcAft>
            </a:pPr>
            <a:r>
              <a:rPr sz="1200">
                <a:solidFill>
                  <a:srgbClr val="D7ECE9"/>
                </a:solidFill>
                <a:latin typeface="Consolas"/>
              </a:rPr>
              <a:t>String sql =</a:t>
            </a:r>
          </a:p>
          <a:p>
            <a:pPr>
              <a:spcAft>
                <a:spcPts val="200"/>
              </a:spcAft>
            </a:pPr>
            <a:r>
              <a:rPr sz="1200">
                <a:solidFill>
                  <a:srgbClr val="D7ECE9"/>
                </a:solidFill>
                <a:latin typeface="Consolas"/>
              </a:rPr>
              <a:t>  "UPDATE DEPT SET DNAME='" + izena +</a:t>
            </a:r>
          </a:p>
          <a:p>
            <a:pPr>
              <a:spcAft>
                <a:spcPts val="200"/>
              </a:spcAft>
            </a:pPr>
            <a:r>
              <a:rPr sz="1200">
                <a:solidFill>
                  <a:srgbClr val="D7ECE9"/>
                </a:solidFill>
                <a:latin typeface="Consolas"/>
              </a:rPr>
              <a:t>  "' WHERE DEPTNO=" + deptno;</a:t>
            </a:r>
          </a:p>
          <a:p>
            <a:pPr>
              <a:spcAft>
                <a:spcPts val="200"/>
              </a:spcAft>
            </a:pPr>
            <a:r>
              <a:rPr sz="1200">
                <a:solidFill>
                  <a:srgbClr val="D7ECE9"/>
                </a:solidFill>
                <a:latin typeface="Consolas"/>
              </a:rPr>
              <a:t/>
            </a:r>
          </a:p>
          <a:p>
            <a:pPr>
              <a:spcAft>
                <a:spcPts val="200"/>
              </a:spcAft>
            </a:pPr>
            <a:r>
              <a:rPr sz="1200">
                <a:solidFill>
                  <a:srgbClr val="D7ECE9"/>
                </a:solidFill>
                <a:latin typeface="Consolas"/>
              </a:rPr>
              <a:t>int n = st.executeUpdate(sql);</a:t>
            </a:r>
          </a:p>
          <a:p>
            <a:pPr>
              <a:spcAft>
                <a:spcPts val="200"/>
              </a:spcAft>
            </a:pPr>
            <a:r>
              <a:rPr sz="1200">
                <a:solidFill>
                  <a:srgbClr val="D7ECE9"/>
                </a:solidFill>
                <a:latin typeface="Consolas"/>
              </a:rPr>
              <a:t>System.out.println("Aldatuta: " + n);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0" y="5074920"/>
            <a:ext cx="4937760" cy="1097280"/>
          </a:xfrm>
          <a:prstGeom prst="roundRect">
            <a:avLst/>
          </a:prstGeom>
          <a:solidFill>
            <a:srgbClr val="FBE8E5"/>
          </a:solidFill>
          <a:ln>
            <a:solidFill>
              <a:srgbClr val="A33B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766560" y="5166360"/>
            <a:ext cx="45720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1">
                <a:solidFill>
                  <a:srgbClr val="A33B2C"/>
                </a:solidFill>
                <a:latin typeface="Calibri"/>
              </a:rPr>
              <a:t>Kontuz (horregatik doa 3. ariketa)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766560" y="5440680"/>
            <a:ext cx="4572000" cy="5943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>
                <a:solidFill>
                  <a:srgbClr val="4A6068"/>
                </a:solidFill>
                <a:latin typeface="Calibri"/>
              </a:rPr>
              <a:t>SQL kateatzeak arriskutsua da (SQL injection). Hurrengo pausoak hori zuzentzen du.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4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9728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>
                <a:solidFill>
                  <a:srgbClr val="0D6E6E"/>
                </a:solidFill>
                <a:latin typeface="Calibri"/>
              </a:rPr>
              <a:t>ARIKETA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10972800" cy="10058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3600" b="1">
                <a:solidFill>
                  <a:srgbClr val="0F2A32"/>
                </a:solidFill>
                <a:latin typeface="Georgia"/>
              </a:rPr>
              <a:t>Gauza bera, PreparedStatement-ekin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737360"/>
            <a:ext cx="5669280" cy="10058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0">
                <a:solidFill>
                  <a:srgbClr val="4A6068"/>
                </a:solidFill>
                <a:latin typeface="Calibri"/>
              </a:rPr>
              <a:t>SQL finkoa idazten duzu; balioak gero setXxx bidez sartzen dira. Konektoreak balioak segurtasunez bidaltzen ditu.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2926080"/>
            <a:ext cx="2651760" cy="1188720"/>
          </a:xfrm>
          <a:prstGeom prst="roundRect">
            <a:avLst/>
          </a:prstGeom>
          <a:solidFill>
            <a:srgbClr val="F7FAFB"/>
          </a:solidFill>
          <a:ln>
            <a:solidFill>
              <a:srgbClr val="A33B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3063240"/>
            <a:ext cx="22860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>
                <a:solidFill>
                  <a:srgbClr val="A33B2C"/>
                </a:solidFill>
                <a:latin typeface="Calibri"/>
              </a:rPr>
              <a:t>Lehen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3383280"/>
            <a:ext cx="2286000" cy="548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>
                <a:solidFill>
                  <a:srgbClr val="4A6068"/>
                </a:solidFill>
                <a:latin typeface="Calibri"/>
              </a:rPr>
              <a:t>SQL + aldagaiak kateatu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566160" y="2926080"/>
            <a:ext cx="2743200" cy="1188720"/>
          </a:xfrm>
          <a:prstGeom prst="roundRect">
            <a:avLst/>
          </a:prstGeom>
          <a:solidFill>
            <a:srgbClr val="F7FAFB"/>
          </a:solidFill>
          <a:ln>
            <a:solidFill>
              <a:srgbClr val="1F6B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749039" y="3063240"/>
            <a:ext cx="237744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>
                <a:solidFill>
                  <a:srgbClr val="1F6B45"/>
                </a:solidFill>
                <a:latin typeface="Calibri"/>
              </a:rPr>
              <a:t>Orain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749039" y="3383280"/>
            <a:ext cx="2377440" cy="548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>
                <a:solidFill>
                  <a:srgbClr val="4A6068"/>
                </a:solidFill>
                <a:latin typeface="Calibri"/>
              </a:rPr>
              <a:t>? + setString / setInt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4389120"/>
            <a:ext cx="5669280" cy="777240"/>
          </a:xfrm>
          <a:prstGeom prst="roundRect">
            <a:avLst/>
          </a:prstGeom>
          <a:solidFill>
            <a:srgbClr val="F4E6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40080" y="4389120"/>
            <a:ext cx="73152" cy="777240"/>
          </a:xfrm>
          <a:prstGeom prst="rect">
            <a:avLst/>
          </a:prstGeom>
          <a:solidFill>
            <a:srgbClr val="C47A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" y="4462272"/>
            <a:ext cx="530352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00" b="1">
                <a:solidFill>
                  <a:srgbClr val="C47A14"/>
                </a:solidFill>
                <a:latin typeface="Calibri"/>
              </a:rPr>
              <a:t>ZERGATIK HAU IKASI?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4681728"/>
            <a:ext cx="5303520" cy="43891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>
                <a:solidFill>
                  <a:srgbClr val="5A3A10"/>
                </a:solidFill>
                <a:latin typeface="Calibri"/>
              </a:rPr>
              <a:t>Parametroak bereizteak kodea argitzen du eta injekzioa saihesten du. Ohitura ona lehen egunetik.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583680" y="1737360"/>
            <a:ext cx="4937760" cy="4114800"/>
          </a:xfrm>
          <a:prstGeom prst="roundRect">
            <a:avLst/>
          </a:prstGeom>
          <a:solidFill>
            <a:srgbClr val="1026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766560" y="1874519"/>
            <a:ext cx="45720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200">
                <a:solidFill>
                  <a:srgbClr val="D7ECE9"/>
                </a:solidFill>
                <a:latin typeface="Consolas"/>
              </a:rPr>
              <a:t>String sql =</a:t>
            </a:r>
          </a:p>
          <a:p>
            <a:pPr>
              <a:spcAft>
                <a:spcPts val="200"/>
              </a:spcAft>
            </a:pPr>
            <a:r>
              <a:rPr sz="1200">
                <a:solidFill>
                  <a:srgbClr val="D7ECE9"/>
                </a:solidFill>
                <a:latin typeface="Consolas"/>
              </a:rPr>
              <a:t>  "UPDATE DEPT SET DNAME=? WHERE DEPTNO=?";</a:t>
            </a:r>
          </a:p>
          <a:p>
            <a:pPr>
              <a:spcAft>
                <a:spcPts val="200"/>
              </a:spcAft>
            </a:pPr>
            <a:r>
              <a:rPr sz="1200">
                <a:solidFill>
                  <a:srgbClr val="D7ECE9"/>
                </a:solidFill>
                <a:latin typeface="Consolas"/>
              </a:rPr>
              <a:t/>
            </a:r>
          </a:p>
          <a:p>
            <a:pPr>
              <a:spcAft>
                <a:spcPts val="200"/>
              </a:spcAft>
            </a:pPr>
            <a:r>
              <a:rPr sz="1200">
                <a:solidFill>
                  <a:srgbClr val="D7ECE9"/>
                </a:solidFill>
                <a:latin typeface="Consolas"/>
              </a:rPr>
              <a:t>PreparedStatement ps =</a:t>
            </a:r>
          </a:p>
          <a:p>
            <a:pPr>
              <a:spcAft>
                <a:spcPts val="200"/>
              </a:spcAft>
            </a:pPr>
            <a:r>
              <a:rPr sz="1200">
                <a:solidFill>
                  <a:srgbClr val="D7ECE9"/>
                </a:solidFill>
                <a:latin typeface="Consolas"/>
              </a:rPr>
              <a:t>  con.prepareStatement(sql);</a:t>
            </a:r>
          </a:p>
          <a:p>
            <a:pPr>
              <a:spcAft>
                <a:spcPts val="200"/>
              </a:spcAft>
            </a:pPr>
            <a:r>
              <a:rPr sz="1200">
                <a:solidFill>
                  <a:srgbClr val="D7ECE9"/>
                </a:solidFill>
                <a:latin typeface="Consolas"/>
              </a:rPr>
              <a:t>ps.setString(1, izena);   // 1. ?</a:t>
            </a:r>
          </a:p>
          <a:p>
            <a:pPr>
              <a:spcAft>
                <a:spcPts val="200"/>
              </a:spcAft>
            </a:pPr>
            <a:r>
              <a:rPr sz="1200">
                <a:solidFill>
                  <a:srgbClr val="D7ECE9"/>
                </a:solidFill>
                <a:latin typeface="Consolas"/>
              </a:rPr>
              <a:t>ps.setInt(2, deptno);     // 2. ?</a:t>
            </a:r>
          </a:p>
          <a:p>
            <a:pPr>
              <a:spcAft>
                <a:spcPts val="200"/>
              </a:spcAft>
            </a:pPr>
            <a:r>
              <a:rPr sz="1200">
                <a:solidFill>
                  <a:srgbClr val="D7ECE9"/>
                </a:solidFill>
                <a:latin typeface="Consolas"/>
              </a:rPr>
              <a:t/>
            </a:r>
          </a:p>
          <a:p>
            <a:pPr>
              <a:spcAft>
                <a:spcPts val="200"/>
              </a:spcAft>
            </a:pPr>
            <a:r>
              <a:rPr sz="1200">
                <a:solidFill>
                  <a:srgbClr val="D7ECE9"/>
                </a:solidFill>
                <a:latin typeface="Consolas"/>
              </a:rPr>
              <a:t>int n = ps.executeUpdate();</a:t>
            </a:r>
          </a:p>
          <a:p>
            <a:pPr>
              <a:spcAft>
                <a:spcPts val="200"/>
              </a:spcAft>
            </a:pPr>
            <a:r>
              <a:rPr sz="1200">
                <a:solidFill>
                  <a:srgbClr val="D7ECE9"/>
                </a:solidFill>
                <a:latin typeface="Consolas"/>
              </a:rPr>
              <a:t>System.out.println("Aldatuta: " + n);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4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9728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>
                <a:solidFill>
                  <a:srgbClr val="0D6E6E"/>
                </a:solidFill>
                <a:latin typeface="Calibri"/>
              </a:rPr>
              <a:t>ARIKETA 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10972800" cy="10058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3600" b="1">
                <a:solidFill>
                  <a:srgbClr val="0F2A32"/>
                </a:solidFill>
                <a:latin typeface="Georgia"/>
              </a:rPr>
              <a:t>Transakzioak: guztia edo ezer ez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737360"/>
            <a:ext cx="5669280" cy="8229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0">
                <a:solidFill>
                  <a:srgbClr val="4A6068"/>
                </a:solidFill>
                <a:latin typeface="Calibri"/>
              </a:rPr>
              <a:t>Defektuz autocommit piztuta dago: sententzia bakoitza berehala gordetzen da. Multzokatu nahi badugu, itzali.</a:t>
            </a:r>
          </a:p>
        </p:txBody>
      </p:sp>
      <p:sp>
        <p:nvSpPr>
          <p:cNvPr id="5" name="Oval 4"/>
          <p:cNvSpPr/>
          <p:nvPr/>
        </p:nvSpPr>
        <p:spPr>
          <a:xfrm>
            <a:off x="640080" y="2651760"/>
            <a:ext cx="365760" cy="365760"/>
          </a:xfrm>
          <a:prstGeom prst="ellipse">
            <a:avLst/>
          </a:prstGeom>
          <a:solidFill>
            <a:srgbClr val="0D6E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2679191"/>
            <a:ext cx="36576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200" b="1">
                <a:solidFill>
                  <a:srgbClr val="F4F8F9"/>
                </a:solidFill>
                <a:latin typeface="Calibr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8720" y="2651760"/>
            <a:ext cx="502920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>
                <a:solidFill>
                  <a:srgbClr val="142428"/>
                </a:solidFill>
                <a:latin typeface="Calibri"/>
              </a:rPr>
              <a:t>setAutoCommit(false)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720" y="2907791"/>
            <a:ext cx="50292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>
                <a:solidFill>
                  <a:srgbClr val="4A6068"/>
                </a:solidFill>
                <a:latin typeface="Calibri"/>
              </a:rPr>
              <a:t>Hemendik aurrerakoak pakete batean.</a:t>
            </a:r>
          </a:p>
        </p:txBody>
      </p:sp>
      <p:sp>
        <p:nvSpPr>
          <p:cNvPr id="9" name="Oval 8"/>
          <p:cNvSpPr/>
          <p:nvPr/>
        </p:nvSpPr>
        <p:spPr>
          <a:xfrm>
            <a:off x="640080" y="3337560"/>
            <a:ext cx="365760" cy="365760"/>
          </a:xfrm>
          <a:prstGeom prst="ellipse">
            <a:avLst/>
          </a:prstGeom>
          <a:solidFill>
            <a:srgbClr val="0D6E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3364991"/>
            <a:ext cx="36576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200" b="1">
                <a:solidFill>
                  <a:srgbClr val="F4F8F9"/>
                </a:solidFill>
                <a:latin typeface="Calibri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88720" y="3337560"/>
            <a:ext cx="502920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>
                <a:solidFill>
                  <a:srgbClr val="142428"/>
                </a:solidFill>
                <a:latin typeface="Calibri"/>
              </a:rPr>
              <a:t>commit()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88720" y="3593591"/>
            <a:ext cx="50292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>
                <a:solidFill>
                  <a:srgbClr val="4A6068"/>
                </a:solidFill>
                <a:latin typeface="Calibri"/>
              </a:rPr>
              <a:t>Dena ondo → aldaketak behin betiko.</a:t>
            </a:r>
          </a:p>
        </p:txBody>
      </p:sp>
      <p:sp>
        <p:nvSpPr>
          <p:cNvPr id="13" name="Oval 12"/>
          <p:cNvSpPr/>
          <p:nvPr/>
        </p:nvSpPr>
        <p:spPr>
          <a:xfrm>
            <a:off x="640080" y="4023360"/>
            <a:ext cx="365760" cy="365760"/>
          </a:xfrm>
          <a:prstGeom prst="ellipse">
            <a:avLst/>
          </a:prstGeom>
          <a:solidFill>
            <a:srgbClr val="0D6E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4050792"/>
            <a:ext cx="36576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200" b="1">
                <a:solidFill>
                  <a:srgbClr val="F4F8F9"/>
                </a:solidFill>
                <a:latin typeface="Calibri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88720" y="4023360"/>
            <a:ext cx="502920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>
                <a:solidFill>
                  <a:srgbClr val="142428"/>
                </a:solidFill>
                <a:latin typeface="Calibri"/>
              </a:rPr>
              <a:t>rollback()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88720" y="4279392"/>
            <a:ext cx="50292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>
                <a:solidFill>
                  <a:srgbClr val="4A6068"/>
                </a:solidFill>
                <a:latin typeface="Calibri"/>
              </a:rPr>
              <a:t>SQLException → ezer ez da gordetzen.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4846320"/>
            <a:ext cx="5669280" cy="777240"/>
          </a:xfrm>
          <a:prstGeom prst="roundRect">
            <a:avLst/>
          </a:prstGeom>
          <a:solidFill>
            <a:srgbClr val="F4E6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40080" y="4846320"/>
            <a:ext cx="73152" cy="777240"/>
          </a:xfrm>
          <a:prstGeom prst="rect">
            <a:avLst/>
          </a:prstGeom>
          <a:solidFill>
            <a:srgbClr val="C47A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68680" y="4919472"/>
            <a:ext cx="530352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00" b="1">
                <a:solidFill>
                  <a:srgbClr val="C47A14"/>
                </a:solidFill>
                <a:latin typeface="Calibri"/>
              </a:rPr>
              <a:t>ZERGATIK BEHAR DUGU?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8680" y="5138928"/>
            <a:ext cx="5303520" cy="43891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>
                <a:solidFill>
                  <a:srgbClr val="5A3A10"/>
                </a:solidFill>
                <a:latin typeface="Calibri"/>
              </a:rPr>
              <a:t>Eguneraketa bat baino gehiago elkarren menpekoak direnean: erdi-eginda uztea okerragoa da ezer ez egitea baino.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583680" y="1737360"/>
            <a:ext cx="4937760" cy="4114800"/>
          </a:xfrm>
          <a:prstGeom prst="roundRect">
            <a:avLst/>
          </a:prstGeom>
          <a:solidFill>
            <a:srgbClr val="1026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766560" y="1874519"/>
            <a:ext cx="45720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200">
                <a:solidFill>
                  <a:srgbClr val="D7ECE9"/>
                </a:solidFill>
                <a:latin typeface="Consolas"/>
              </a:rPr>
              <a:t>con.setAutoCommit(false);</a:t>
            </a:r>
          </a:p>
          <a:p>
            <a:pPr>
              <a:spcAft>
                <a:spcPts val="200"/>
              </a:spcAft>
            </a:pPr>
            <a:r>
              <a:rPr sz="1200">
                <a:solidFill>
                  <a:srgbClr val="D7ECE9"/>
                </a:solidFill>
                <a:latin typeface="Consolas"/>
              </a:rPr>
              <a:t>try {</a:t>
            </a:r>
          </a:p>
          <a:p>
            <a:pPr>
              <a:spcAft>
                <a:spcPts val="200"/>
              </a:spcAft>
            </a:pPr>
            <a:r>
              <a:rPr sz="1200">
                <a:solidFill>
                  <a:srgbClr val="D7ECE9"/>
                </a:solidFill>
                <a:latin typeface="Consolas"/>
              </a:rPr>
              <a:t>  ps.executeUpdate();</a:t>
            </a:r>
          </a:p>
          <a:p>
            <a:pPr>
              <a:spcAft>
                <a:spcPts val="200"/>
              </a:spcAft>
            </a:pPr>
            <a:r>
              <a:rPr sz="1200">
                <a:solidFill>
                  <a:srgbClr val="D7ECE9"/>
                </a:solidFill>
                <a:latin typeface="Consolas"/>
              </a:rPr>
              <a:t>  // beste sententziak...</a:t>
            </a:r>
          </a:p>
          <a:p>
            <a:pPr>
              <a:spcAft>
                <a:spcPts val="200"/>
              </a:spcAft>
            </a:pPr>
            <a:r>
              <a:rPr sz="1200">
                <a:solidFill>
                  <a:srgbClr val="D7ECE9"/>
                </a:solidFill>
                <a:latin typeface="Consolas"/>
              </a:rPr>
              <a:t>  con.commit();</a:t>
            </a:r>
          </a:p>
          <a:p>
            <a:pPr>
              <a:spcAft>
                <a:spcPts val="200"/>
              </a:spcAft>
            </a:pPr>
            <a:r>
              <a:rPr sz="1200">
                <a:solidFill>
                  <a:srgbClr val="D7ECE9"/>
                </a:solidFill>
                <a:latin typeface="Consolas"/>
              </a:rPr>
              <a:t>} catch (SQLException e) {</a:t>
            </a:r>
          </a:p>
          <a:p>
            <a:pPr>
              <a:spcAft>
                <a:spcPts val="200"/>
              </a:spcAft>
            </a:pPr>
            <a:r>
              <a:rPr sz="1200">
                <a:solidFill>
                  <a:srgbClr val="D7ECE9"/>
                </a:solidFill>
                <a:latin typeface="Consolas"/>
              </a:rPr>
              <a:t>  con.rollback();</a:t>
            </a:r>
          </a:p>
          <a:p>
            <a:pPr>
              <a:spcAft>
                <a:spcPts val="200"/>
              </a:spcAft>
            </a:pPr>
            <a:r>
              <a:rPr sz="1200">
                <a:solidFill>
                  <a:srgbClr val="D7ECE9"/>
                </a:solidFill>
                <a:latin typeface="Consolas"/>
              </a:rPr>
              <a:t>  throw e;</a:t>
            </a:r>
          </a:p>
          <a:p>
            <a:pPr>
              <a:spcAft>
                <a:spcPts val="200"/>
              </a:spcAft>
            </a:pPr>
            <a:r>
              <a:rPr sz="1200">
                <a:solidFill>
                  <a:srgbClr val="D7ECE9"/>
                </a:solidFill>
                <a:latin typeface="Consolas"/>
              </a:rPr>
              <a:t>} finally {</a:t>
            </a:r>
          </a:p>
          <a:p>
            <a:pPr>
              <a:spcAft>
                <a:spcPts val="200"/>
              </a:spcAft>
            </a:pPr>
            <a:r>
              <a:rPr sz="1200">
                <a:solidFill>
                  <a:srgbClr val="D7ECE9"/>
                </a:solidFill>
                <a:latin typeface="Consolas"/>
              </a:rPr>
              <a:t>  con.setAutoCommit(true);</a:t>
            </a:r>
          </a:p>
          <a:p>
            <a:pPr>
              <a:spcAft>
                <a:spcPts val="200"/>
              </a:spcAft>
            </a:pPr>
            <a:r>
              <a:rPr sz="1200">
                <a:solidFill>
                  <a:srgbClr val="D7ECE9"/>
                </a:solidFill>
                <a:latin typeface="Consolas"/>
              </a:rPr>
              <a:t>}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4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9728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>
                <a:solidFill>
                  <a:srgbClr val="0D6E6E"/>
                </a:solidFill>
                <a:latin typeface="Calibri"/>
              </a:rPr>
              <a:t>ESKEMA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10972800" cy="10058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3600" b="1">
                <a:solidFill>
                  <a:srgbClr val="0F2A32"/>
                </a:solidFill>
                <a:latin typeface="Georgia"/>
              </a:rPr>
              <a:t>demodb: bi taula, erlazio bat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828800"/>
            <a:ext cx="5303520" cy="2926080"/>
          </a:xfrm>
          <a:prstGeom prst="roundRect">
            <a:avLst/>
          </a:prstGeom>
          <a:solidFill>
            <a:srgbClr val="F7FAFB"/>
          </a:solidFill>
          <a:ln>
            <a:solidFill>
              <a:srgbClr val="C5D4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59" y="1965960"/>
            <a:ext cx="4937759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>
                <a:solidFill>
                  <a:srgbClr val="0D6E6E"/>
                </a:solidFill>
                <a:latin typeface="Calibri"/>
              </a:rPr>
              <a:t>DEPT (sailak)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59" y="2286000"/>
            <a:ext cx="4937759" cy="2331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400" b="0">
                <a:solidFill>
                  <a:srgbClr val="4A6068"/>
                </a:solidFill>
                <a:latin typeface="Calibri"/>
              </a:rPr>
              <a:t>• DEPTNO  PK</a:t>
            </a:r>
          </a:p>
          <a:p>
            <a:pPr>
              <a:spcAft>
                <a:spcPts val="400"/>
              </a:spcAft>
            </a:pPr>
            <a:r>
              <a:rPr sz="1400" b="0">
                <a:solidFill>
                  <a:srgbClr val="4A6068"/>
                </a:solidFill>
                <a:latin typeface="Calibri"/>
              </a:rPr>
              <a:t>• DNAME   izena</a:t>
            </a:r>
          </a:p>
          <a:p>
            <a:pPr>
              <a:spcAft>
                <a:spcPts val="400"/>
              </a:spcAft>
            </a:pPr>
            <a:r>
              <a:rPr sz="1400" b="0">
                <a:solidFill>
                  <a:srgbClr val="4A6068"/>
                </a:solidFill>
                <a:latin typeface="Calibri"/>
              </a:rPr>
              <a:t>• LOC     kokapena</a:t>
            </a:r>
          </a:p>
          <a:p>
            <a:pPr>
              <a:spcAft>
                <a:spcPts val="400"/>
              </a:spcAft>
            </a:pPr>
            <a:r>
              <a:rPr sz="1400" b="0">
                <a:solidFill>
                  <a:srgbClr val="4A6068"/>
                </a:solidFill>
                <a:latin typeface="Calibri"/>
              </a:rPr>
              <a:t/>
            </a:r>
          </a:p>
          <a:p>
            <a:pPr>
              <a:spcAft>
                <a:spcPts val="400"/>
              </a:spcAft>
            </a:pPr>
            <a:r>
              <a:rPr sz="1400" b="0">
                <a:solidFill>
                  <a:srgbClr val="4A6068"/>
                </a:solidFill>
                <a:latin typeface="Calibri"/>
              </a:rPr>
              <a:t>Gaurko ariketak hemen zentratzen dira.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828800"/>
            <a:ext cx="5303520" cy="2926080"/>
          </a:xfrm>
          <a:prstGeom prst="roundRect">
            <a:avLst/>
          </a:prstGeom>
          <a:solidFill>
            <a:srgbClr val="F7FAFB"/>
          </a:solidFill>
          <a:ln>
            <a:solidFill>
              <a:srgbClr val="C5D4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1965960"/>
            <a:ext cx="4937759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>
                <a:solidFill>
                  <a:srgbClr val="0D6E6E"/>
                </a:solidFill>
                <a:latin typeface="Calibri"/>
              </a:rPr>
              <a:t>EMP (langileak)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2286000"/>
            <a:ext cx="4937759" cy="2331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400" b="0">
                <a:solidFill>
                  <a:srgbClr val="4A6068"/>
                </a:solidFill>
                <a:latin typeface="Calibri"/>
              </a:rPr>
              <a:t>• EMPNO   PK</a:t>
            </a:r>
          </a:p>
          <a:p>
            <a:pPr>
              <a:spcAft>
                <a:spcPts val="400"/>
              </a:spcAft>
            </a:pPr>
            <a:r>
              <a:rPr sz="1400" b="0">
                <a:solidFill>
                  <a:srgbClr val="4A6068"/>
                </a:solidFill>
                <a:latin typeface="Calibri"/>
              </a:rPr>
              <a:t>• ENAME, JOB, SAL…</a:t>
            </a:r>
          </a:p>
          <a:p>
            <a:pPr>
              <a:spcAft>
                <a:spcPts val="400"/>
              </a:spcAft>
            </a:pPr>
            <a:r>
              <a:rPr sz="1400" b="0">
                <a:solidFill>
                  <a:srgbClr val="4A6068"/>
                </a:solidFill>
                <a:latin typeface="Calibri"/>
              </a:rPr>
              <a:t>• DEPTNO  FK → DEPT</a:t>
            </a:r>
          </a:p>
          <a:p>
            <a:pPr>
              <a:spcAft>
                <a:spcPts val="400"/>
              </a:spcAft>
            </a:pPr>
            <a:r>
              <a:rPr sz="1400" b="0">
                <a:solidFill>
                  <a:srgbClr val="4A6068"/>
                </a:solidFill>
                <a:latin typeface="Calibri"/>
              </a:rPr>
              <a:t/>
            </a:r>
          </a:p>
          <a:p>
            <a:pPr>
              <a:spcAft>
                <a:spcPts val="400"/>
              </a:spcAft>
            </a:pPr>
            <a:r>
              <a:rPr sz="1400" b="0">
                <a:solidFill>
                  <a:srgbClr val="4A6068"/>
                </a:solidFill>
                <a:latin typeface="Calibri"/>
              </a:rPr>
              <a:t>Saila aldatzean FK kontuan hartu.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5669280"/>
            <a:ext cx="10972800" cy="777240"/>
          </a:xfrm>
          <a:prstGeom prst="roundRect">
            <a:avLst/>
          </a:prstGeom>
          <a:solidFill>
            <a:srgbClr val="F4E6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0080" y="5669280"/>
            <a:ext cx="73152" cy="777240"/>
          </a:xfrm>
          <a:prstGeom prst="rect">
            <a:avLst/>
          </a:prstGeom>
          <a:solidFill>
            <a:srgbClr val="C47A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5742432"/>
            <a:ext cx="1060704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00" b="1">
                <a:solidFill>
                  <a:srgbClr val="C47A14"/>
                </a:solidFill>
                <a:latin typeface="Calibri"/>
              </a:rPr>
              <a:t>ZERGATIK ESKEMA HAU?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5961888"/>
            <a:ext cx="10607040" cy="43891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>
                <a:solidFill>
                  <a:srgbClr val="5A3A10"/>
                </a:solidFill>
                <a:latin typeface="Calibri"/>
              </a:rPr>
              <a:t>Adibide klasikoa eta txikia: SELECT eta UPDATE erraz frogatzeko, erlazio erreal batekin.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4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9728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>
                <a:solidFill>
                  <a:srgbClr val="0D6E6E"/>
                </a:solidFill>
                <a:latin typeface="Calibri"/>
              </a:rPr>
              <a:t>KLASEAN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10972800" cy="10058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3600" b="1">
                <a:solidFill>
                  <a:srgbClr val="0F2A32"/>
                </a:solidFill>
                <a:latin typeface="Georgia"/>
              </a:rPr>
              <a:t>Proba-ordena gomendatua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783080"/>
            <a:ext cx="5486400" cy="1143000"/>
          </a:xfrm>
          <a:prstGeom prst="roundRect">
            <a:avLst/>
          </a:prstGeom>
          <a:solidFill>
            <a:srgbClr val="F7FAFB"/>
          </a:solidFill>
          <a:ln>
            <a:solidFill>
              <a:srgbClr val="C5D4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777240" y="2103120"/>
            <a:ext cx="411480" cy="411480"/>
          </a:xfrm>
          <a:prstGeom prst="ellipse">
            <a:avLst/>
          </a:prstGeom>
          <a:solidFill>
            <a:srgbClr val="0D6E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2148840"/>
            <a:ext cx="41148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400" b="1">
                <a:solidFill>
                  <a:srgbClr val="F4F8F9"/>
                </a:solidFill>
                <a:latin typeface="Calibr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2011680"/>
            <a:ext cx="448056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1">
                <a:solidFill>
                  <a:srgbClr val="142428"/>
                </a:solidFill>
                <a:latin typeface="Calibri"/>
              </a:rPr>
              <a:t>Workbench-en konektatu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2331720"/>
            <a:ext cx="448056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>
                <a:solidFill>
                  <a:srgbClr val="4A6068"/>
                </a:solidFill>
                <a:latin typeface="Calibri"/>
              </a:rPr>
              <a:t>MySQL bizirik dagoela ziurtatu (Docker + portua).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0" y="1783080"/>
            <a:ext cx="5486400" cy="1143000"/>
          </a:xfrm>
          <a:prstGeom prst="roundRect">
            <a:avLst/>
          </a:prstGeom>
          <a:solidFill>
            <a:srgbClr val="F7FAFB"/>
          </a:solidFill>
          <a:ln>
            <a:solidFill>
              <a:srgbClr val="C5D4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6537960" y="2103120"/>
            <a:ext cx="411480" cy="411480"/>
          </a:xfrm>
          <a:prstGeom prst="ellipse">
            <a:avLst/>
          </a:prstGeom>
          <a:solidFill>
            <a:srgbClr val="0D6E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37960" y="2148840"/>
            <a:ext cx="41148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400" b="1">
                <a:solidFill>
                  <a:srgbClr val="F4F8F9"/>
                </a:solidFill>
                <a:latin typeface="Calibri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32320" y="2011680"/>
            <a:ext cx="448056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1">
                <a:solidFill>
                  <a:srgbClr val="142428"/>
                </a:solidFill>
                <a:latin typeface="Calibri"/>
              </a:rPr>
              <a:t>demodb.sql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132320" y="2331720"/>
            <a:ext cx="448056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>
                <a:solidFill>
                  <a:srgbClr val="4A6068"/>
                </a:solidFill>
                <a:latin typeface="Calibri"/>
              </a:rPr>
              <a:t>Taulak eta datuak kargatu.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3108960"/>
            <a:ext cx="5486400" cy="1143000"/>
          </a:xfrm>
          <a:prstGeom prst="roundRect">
            <a:avLst/>
          </a:prstGeom>
          <a:solidFill>
            <a:srgbClr val="F7FAFB"/>
          </a:solidFill>
          <a:ln>
            <a:solidFill>
              <a:srgbClr val="C5D4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777240" y="3429000"/>
            <a:ext cx="411480" cy="411480"/>
          </a:xfrm>
          <a:prstGeom prst="ellipse">
            <a:avLst/>
          </a:prstGeom>
          <a:solidFill>
            <a:srgbClr val="0D6E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7240" y="3474720"/>
            <a:ext cx="41148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400" b="1">
                <a:solidFill>
                  <a:srgbClr val="F4F8F9"/>
                </a:solidFill>
                <a:latin typeface="Calibri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71600" y="3337560"/>
            <a:ext cx="448056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1">
                <a:solidFill>
                  <a:srgbClr val="142428"/>
                </a:solidFill>
                <a:latin typeface="Calibri"/>
              </a:rPr>
              <a:t>Ariketa 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657600"/>
            <a:ext cx="448056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>
                <a:solidFill>
                  <a:srgbClr val="4A6068"/>
                </a:solidFill>
                <a:latin typeface="Calibri"/>
              </a:rPr>
              <a:t>SELECT → 4 sail agertu behar dira.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0" y="3108960"/>
            <a:ext cx="5486400" cy="1143000"/>
          </a:xfrm>
          <a:prstGeom prst="roundRect">
            <a:avLst/>
          </a:prstGeom>
          <a:solidFill>
            <a:srgbClr val="F7FAFB"/>
          </a:solidFill>
          <a:ln>
            <a:solidFill>
              <a:srgbClr val="C5D4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537960" y="3429000"/>
            <a:ext cx="411480" cy="411480"/>
          </a:xfrm>
          <a:prstGeom prst="ellipse">
            <a:avLst/>
          </a:prstGeom>
          <a:solidFill>
            <a:srgbClr val="0D6E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37960" y="3474720"/>
            <a:ext cx="41148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400" b="1">
                <a:solidFill>
                  <a:srgbClr val="F4F8F9"/>
                </a:solidFill>
                <a:latin typeface="Calibri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132320" y="3337560"/>
            <a:ext cx="448056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1">
                <a:solidFill>
                  <a:srgbClr val="142428"/>
                </a:solidFill>
                <a:latin typeface="Calibri"/>
              </a:rPr>
              <a:t>Ariketa 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132320" y="3657600"/>
            <a:ext cx="448056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>
                <a:solidFill>
                  <a:srgbClr val="4A6068"/>
                </a:solidFill>
                <a:latin typeface="Calibri"/>
              </a:rPr>
              <a:t>UPDATE Statement → “Aldatuta: 1”. Workbench-en egiaztatu.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0080" y="4434840"/>
            <a:ext cx="5486400" cy="1143000"/>
          </a:xfrm>
          <a:prstGeom prst="roundRect">
            <a:avLst/>
          </a:prstGeom>
          <a:solidFill>
            <a:srgbClr val="F7FAFB"/>
          </a:solidFill>
          <a:ln>
            <a:solidFill>
              <a:srgbClr val="C5D4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777240" y="4754879"/>
            <a:ext cx="411480" cy="411480"/>
          </a:xfrm>
          <a:prstGeom prst="ellipse">
            <a:avLst/>
          </a:prstGeom>
          <a:solidFill>
            <a:srgbClr val="0D6E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77240" y="4800600"/>
            <a:ext cx="41148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400" b="1">
                <a:solidFill>
                  <a:srgbClr val="F4F8F9"/>
                </a:solidFill>
                <a:latin typeface="Calibri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71600" y="4663440"/>
            <a:ext cx="448056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1">
                <a:solidFill>
                  <a:srgbClr val="142428"/>
                </a:solidFill>
                <a:latin typeface="Calibri"/>
              </a:rPr>
              <a:t>Ariketa 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71600" y="4983479"/>
            <a:ext cx="448056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>
                <a:solidFill>
                  <a:srgbClr val="4A6068"/>
                </a:solidFill>
                <a:latin typeface="Calibri"/>
              </a:rPr>
              <a:t>PreparedStatement → emaitza bera, kode garbia.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400800" y="4434840"/>
            <a:ext cx="5486400" cy="1143000"/>
          </a:xfrm>
          <a:prstGeom prst="roundRect">
            <a:avLst/>
          </a:prstGeom>
          <a:solidFill>
            <a:srgbClr val="F7FAFB"/>
          </a:solidFill>
          <a:ln>
            <a:solidFill>
              <a:srgbClr val="C5D4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6537960" y="4754879"/>
            <a:ext cx="411480" cy="411480"/>
          </a:xfrm>
          <a:prstGeom prst="ellipse">
            <a:avLst/>
          </a:prstGeom>
          <a:solidFill>
            <a:srgbClr val="0D6E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537960" y="4800600"/>
            <a:ext cx="41148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400" b="1">
                <a:solidFill>
                  <a:srgbClr val="F4F8F9"/>
                </a:solidFill>
                <a:latin typeface="Calibri"/>
              </a:rPr>
              <a:t>6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132320" y="4663440"/>
            <a:ext cx="448056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1">
                <a:solidFill>
                  <a:srgbClr val="142428"/>
                </a:solidFill>
                <a:latin typeface="Calibri"/>
              </a:rPr>
              <a:t>Ariketa 4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132320" y="4983479"/>
            <a:ext cx="448056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>
                <a:solidFill>
                  <a:srgbClr val="4A6068"/>
                </a:solidFill>
                <a:latin typeface="Calibri"/>
              </a:rPr>
              <a:t>Errore bat behartu → rollback → datuak bere horretan.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4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9728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>
                <a:solidFill>
                  <a:srgbClr val="0D6E6E"/>
                </a:solidFill>
                <a:latin typeface="Calibri"/>
              </a:rPr>
              <a:t>LABURPENA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10972800" cy="10058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3600" b="1">
                <a:solidFill>
                  <a:srgbClr val="0F2A32"/>
                </a:solidFill>
                <a:latin typeface="Georgia"/>
              </a:rPr>
              <a:t>Gogoratzeko 5 ideia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828800"/>
            <a:ext cx="3611880" cy="1783080"/>
          </a:xfrm>
          <a:prstGeom prst="roundRect">
            <a:avLst/>
          </a:prstGeom>
          <a:solidFill>
            <a:srgbClr val="F7FAFB"/>
          </a:solidFill>
          <a:ln>
            <a:solidFill>
              <a:srgbClr val="C5D4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59" y="1965960"/>
            <a:ext cx="324612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>
                <a:solidFill>
                  <a:srgbClr val="0D6E6E"/>
                </a:solidFill>
                <a:latin typeface="Calibri"/>
              </a:rPr>
              <a:t>Konektorea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59" y="2286000"/>
            <a:ext cx="3246120" cy="11887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400" b="0">
                <a:solidFill>
                  <a:srgbClr val="4A6068"/>
                </a:solidFill>
                <a:latin typeface="Calibri"/>
              </a:rPr>
              <a:t>Java ↔ MySQL zubia. JAR gabe ez dago komunikaziorik.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34840" y="1828800"/>
            <a:ext cx="3611880" cy="1783080"/>
          </a:xfrm>
          <a:prstGeom prst="roundRect">
            <a:avLst/>
          </a:prstGeom>
          <a:solidFill>
            <a:srgbClr val="F7FAFB"/>
          </a:solidFill>
          <a:ln>
            <a:solidFill>
              <a:srgbClr val="C5D4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617720" y="1965960"/>
            <a:ext cx="324612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>
                <a:solidFill>
                  <a:srgbClr val="0D6E6E"/>
                </a:solidFill>
                <a:latin typeface="Calibri"/>
              </a:rPr>
              <a:t>Connection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17720" y="2286000"/>
            <a:ext cx="3246120" cy="11887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400" b="0">
                <a:solidFill>
                  <a:srgbClr val="4A6068"/>
                </a:solidFill>
                <a:latin typeface="Calibri"/>
              </a:rPr>
              <a:t>Atea. Hortik sortzen dira Statement / PreparedStatement.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0" y="1828800"/>
            <a:ext cx="3611880" cy="1783080"/>
          </a:xfrm>
          <a:prstGeom prst="roundRect">
            <a:avLst/>
          </a:prstGeom>
          <a:solidFill>
            <a:srgbClr val="F7FAFB"/>
          </a:solidFill>
          <a:ln>
            <a:solidFill>
              <a:srgbClr val="C5D4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412480" y="1965960"/>
            <a:ext cx="324612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>
                <a:solidFill>
                  <a:srgbClr val="0D6E6E"/>
                </a:solidFill>
                <a:latin typeface="Calibri"/>
              </a:rPr>
              <a:t>Query vs Update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12480" y="2286000"/>
            <a:ext cx="3246120" cy="11887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400" b="0">
                <a:solidFill>
                  <a:srgbClr val="4A6068"/>
                </a:solidFill>
                <a:latin typeface="Calibri"/>
              </a:rPr>
              <a:t>SELECT → ResultSet. UPDATE → eraginiko kopurua.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3840480"/>
            <a:ext cx="3611880" cy="1783080"/>
          </a:xfrm>
          <a:prstGeom prst="roundRect">
            <a:avLst/>
          </a:prstGeom>
          <a:solidFill>
            <a:srgbClr val="F7FAFB"/>
          </a:solidFill>
          <a:ln>
            <a:solidFill>
              <a:srgbClr val="C5D4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59" y="3977640"/>
            <a:ext cx="324612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>
                <a:solidFill>
                  <a:srgbClr val="0D6E6E"/>
                </a:solidFill>
                <a:latin typeface="Calibri"/>
              </a:rPr>
              <a:t>PreparedStatement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59" y="4297680"/>
            <a:ext cx="3246120" cy="11887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400" b="0">
                <a:solidFill>
                  <a:srgbClr val="4A6068"/>
                </a:solidFill>
                <a:latin typeface="Calibri"/>
              </a:rPr>
              <a:t>Parametroak ?-rekin: seguruagoa eta argiagoa.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434840" y="3840480"/>
            <a:ext cx="3611880" cy="1783080"/>
          </a:xfrm>
          <a:prstGeom prst="roundRect">
            <a:avLst/>
          </a:prstGeom>
          <a:solidFill>
            <a:srgbClr val="F7FAFB"/>
          </a:solidFill>
          <a:ln>
            <a:solidFill>
              <a:srgbClr val="C5D4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617720" y="3977640"/>
            <a:ext cx="324612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>
                <a:solidFill>
                  <a:srgbClr val="0D6E6E"/>
                </a:solidFill>
                <a:latin typeface="Calibri"/>
              </a:rPr>
              <a:t>Transakzioa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17720" y="4297680"/>
            <a:ext cx="3246120" cy="11887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400" b="0">
                <a:solidFill>
                  <a:srgbClr val="4A6068"/>
                </a:solidFill>
                <a:latin typeface="Calibri"/>
              </a:rPr>
              <a:t>commit = gorde guztia. rollback = ezer ez.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229600" y="3840480"/>
            <a:ext cx="3611880" cy="1783080"/>
          </a:xfrm>
          <a:prstGeom prst="roundRect">
            <a:avLst/>
          </a:prstGeom>
          <a:solidFill>
            <a:srgbClr val="F7FAFB"/>
          </a:solidFill>
          <a:ln>
            <a:solidFill>
              <a:srgbClr val="C5D4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412480" y="3977640"/>
            <a:ext cx="324612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>
                <a:solidFill>
                  <a:srgbClr val="0D6E6E"/>
                </a:solidFill>
                <a:latin typeface="Calibri"/>
              </a:rPr>
              <a:t>Gaurko fokua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12480" y="4297680"/>
            <a:ext cx="3246120" cy="11887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400" b="0">
                <a:solidFill>
                  <a:srgbClr val="4A6068"/>
                </a:solidFill>
                <a:latin typeface="Calibri"/>
              </a:rPr>
              <a:t>Pool-ak eta prozedurak gerorako. Gaur oinarria.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2A3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9728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>
                <a:solidFill>
                  <a:srgbClr val="9FD7D4"/>
                </a:solidFill>
                <a:latin typeface="Calibri"/>
              </a:rPr>
              <a:t>HURRENGOA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3108960"/>
            <a:ext cx="10058400" cy="10972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4400" b="1">
                <a:solidFill>
                  <a:srgbClr val="F4F8F9"/>
                </a:solidFill>
                <a:latin typeface="Georgia"/>
              </a:rPr>
              <a:t>Zuek probatzeko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4389120"/>
            <a:ext cx="10515600" cy="12801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800" b="0">
                <a:solidFill>
                  <a:srgbClr val="D5E4E7"/>
                </a:solidFill>
                <a:latin typeface="Calibri"/>
              </a:rPr>
              <a:t>Ireki proiektua, JAR gehitu, konektatu demodb-ra eta hasi 1. ariketa: sailak pantailaratu. Blokeatzen bazarete: URL, portua, pasahitza edo JAR falta ohi da.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